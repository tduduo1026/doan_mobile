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Asap" panose="020B0604020202020204" charset="0"/>
      <p:regular r:id="rId10"/>
    </p:embeddedFont>
    <p:embeddedFont>
      <p:font typeface="Asap Bold" panose="020B0604020202020204" charset="0"/>
      <p:regular r:id="rId11"/>
    </p:embeddedFont>
    <p:embeddedFont>
      <p:font typeface="Asap Italics" panose="020B0604020202020204" charset="0"/>
      <p:regular r:id="rId12"/>
    </p:embeddedFont>
    <p:embeddedFont>
      <p:font typeface="Asap Medium" panose="020B0604020202020204" charset="0"/>
      <p:regular r:id="rId13"/>
    </p:embeddedFont>
    <p:embeddedFont>
      <p:font typeface="Asap Semi-Bol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69" autoAdjust="0"/>
    <p:restoredTop sz="94622" autoAdjust="0"/>
  </p:normalViewPr>
  <p:slideViewPr>
    <p:cSldViewPr>
      <p:cViewPr varScale="1">
        <p:scale>
          <a:sx n="69" d="100"/>
          <a:sy n="69" d="100"/>
        </p:scale>
        <p:origin x="708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524000" y="2467802"/>
            <a:ext cx="16230600" cy="7819198"/>
          </a:xfrm>
          <a:prstGeom prst="rect">
            <a:avLst/>
          </a:prstGeom>
          <a:solidFill>
            <a:srgbClr val="1836B2"/>
          </a:solidFill>
        </p:spPr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9144000" y="0"/>
            <a:ext cx="12353301" cy="10697402"/>
            <a:chOff x="0" y="0"/>
            <a:chExt cx="4282440" cy="37084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82440" cy="3708400"/>
            </a:xfrm>
            <a:custGeom>
              <a:avLst/>
              <a:gdLst/>
              <a:ahLst/>
              <a:cxnLst/>
              <a:rect l="l" t="t" r="r" b="b"/>
              <a:pathLst>
                <a:path w="4282440" h="370840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2"/>
              <a:stretch>
                <a:fillRect l="-10616" r="-10616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455611" y="3548644"/>
            <a:ext cx="8776384" cy="5357377"/>
            <a:chOff x="0" y="-66675"/>
            <a:chExt cx="11701845" cy="7143169"/>
          </a:xfrm>
        </p:grpSpPr>
        <p:sp>
          <p:nvSpPr>
            <p:cNvPr id="6" name="TextBox 6"/>
            <p:cNvSpPr txBox="1"/>
            <p:nvPr/>
          </p:nvSpPr>
          <p:spPr>
            <a:xfrm>
              <a:off x="0" y="1286570"/>
              <a:ext cx="11701845" cy="43992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3299"/>
                </a:lnSpc>
              </a:pPr>
              <a:r>
                <a:rPr lang="en-US" sz="9999" b="1" spc="299" dirty="0">
                  <a:solidFill>
                    <a:srgbClr val="FFFFFF"/>
                  </a:solidFill>
                  <a:latin typeface="Asap Bold"/>
                  <a:ea typeface="Asap Bold"/>
                  <a:cs typeface="Asap Bold"/>
                  <a:sym typeface="Asap Bold"/>
                </a:rPr>
                <a:t>BÁO CÁO TIẾN ĐỘ TUẦN 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6470089"/>
              <a:ext cx="9897069" cy="6064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20"/>
                </a:lnSpc>
                <a:spcBef>
                  <a:spcPct val="0"/>
                </a:spcBef>
              </a:pPr>
              <a:r>
                <a:rPr lang="en-US" sz="2800" u="none" dirty="0" err="1">
                  <a:solidFill>
                    <a:srgbClr val="FFFFFF"/>
                  </a:solidFill>
                  <a:latin typeface="Asap"/>
                  <a:ea typeface="Asap"/>
                  <a:cs typeface="Asap"/>
                  <a:sym typeface="Asap"/>
                </a:rPr>
                <a:t>Trình</a:t>
              </a:r>
              <a:r>
                <a:rPr lang="en-US" sz="2800" u="none" dirty="0">
                  <a:solidFill>
                    <a:srgbClr val="FFFFFF"/>
                  </a:solidFill>
                  <a:latin typeface="Asap"/>
                  <a:ea typeface="Asap"/>
                  <a:cs typeface="Asap"/>
                  <a:sym typeface="Asap"/>
                </a:rPr>
                <a:t> </a:t>
              </a:r>
              <a:r>
                <a:rPr lang="en-US" sz="2800" u="none" dirty="0" err="1">
                  <a:solidFill>
                    <a:srgbClr val="FFFFFF"/>
                  </a:solidFill>
                  <a:latin typeface="Asap"/>
                  <a:ea typeface="Asap"/>
                  <a:cs typeface="Asap"/>
                  <a:sym typeface="Asap"/>
                </a:rPr>
                <a:t>bày</a:t>
              </a:r>
              <a:r>
                <a:rPr lang="en-US" sz="2800" u="none" dirty="0">
                  <a:solidFill>
                    <a:srgbClr val="FFFFFF"/>
                  </a:solidFill>
                  <a:latin typeface="Asap"/>
                  <a:ea typeface="Asap"/>
                  <a:cs typeface="Asap"/>
                  <a:sym typeface="Asap"/>
                </a:rPr>
                <a:t> </a:t>
              </a:r>
              <a:r>
                <a:rPr lang="en-US" sz="2800" u="none" dirty="0" err="1">
                  <a:solidFill>
                    <a:srgbClr val="FFFFFF"/>
                  </a:solidFill>
                  <a:latin typeface="Asap"/>
                  <a:ea typeface="Asap"/>
                  <a:cs typeface="Asap"/>
                  <a:sym typeface="Asap"/>
                </a:rPr>
                <a:t>bởi</a:t>
              </a:r>
              <a:r>
                <a:rPr lang="en-US" sz="2800" u="none" dirty="0">
                  <a:solidFill>
                    <a:srgbClr val="FFFFFF"/>
                  </a:solidFill>
                  <a:latin typeface="Asap"/>
                  <a:ea typeface="Asap"/>
                  <a:cs typeface="Asap"/>
                  <a:sym typeface="Asap"/>
                </a:rPr>
                <a:t> </a:t>
              </a:r>
              <a:r>
                <a:rPr lang="en-US" sz="2800" u="none" dirty="0" err="1">
                  <a:solidFill>
                    <a:srgbClr val="FFFFFF"/>
                  </a:solidFill>
                  <a:latin typeface="Asap"/>
                  <a:ea typeface="Asap"/>
                  <a:cs typeface="Asap"/>
                  <a:sym typeface="Asap"/>
                </a:rPr>
                <a:t>Nhóm</a:t>
              </a:r>
              <a:r>
                <a:rPr lang="en-US" sz="2800" u="none" dirty="0">
                  <a:solidFill>
                    <a:srgbClr val="FFFFFF"/>
                  </a:solidFill>
                  <a:latin typeface="Asap"/>
                  <a:ea typeface="Asap"/>
                  <a:cs typeface="Asap"/>
                  <a:sym typeface="Asap"/>
                </a:rPr>
                <a:t> 12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66675"/>
              <a:ext cx="9897069" cy="6321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20"/>
                </a:lnSpc>
                <a:spcBef>
                  <a:spcPct val="0"/>
                </a:spcBef>
              </a:pPr>
              <a:r>
                <a:rPr lang="en-US" sz="2800" spc="84">
                  <a:solidFill>
                    <a:srgbClr val="FFFFFF"/>
                  </a:solidFill>
                  <a:latin typeface="Asap"/>
                  <a:ea typeface="Asap"/>
                  <a:cs typeface="Asap"/>
                  <a:sym typeface="Asap"/>
                </a:rPr>
                <a:t>XÂY DỰNG ỨNG DỤNG QUẢN LÝ SỨC KHỎE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695511" y="728028"/>
            <a:ext cx="9564105" cy="1485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00"/>
              </a:lnSpc>
              <a:spcBef>
                <a:spcPct val="0"/>
              </a:spcBef>
            </a:pPr>
            <a:r>
              <a:rPr lang="en-US" sz="3000" b="1" spc="-60" dirty="0">
                <a:solidFill>
                  <a:srgbClr val="000000"/>
                </a:solidFill>
                <a:latin typeface="Asap Bold"/>
                <a:ea typeface="Asap Bold"/>
                <a:cs typeface="Asap Bold"/>
                <a:sym typeface="Asap Bold"/>
              </a:rPr>
              <a:t>BỘ CÔNG THƯƠNG - TRƯỜNG ĐẠI HỌC CÔNG THƯƠNG TP.HCM - KHOA CÔNG NGHỆ THÔNG TIN</a:t>
            </a:r>
          </a:p>
          <a:p>
            <a:pPr algn="ctr">
              <a:lnSpc>
                <a:spcPts val="3900"/>
              </a:lnSpc>
              <a:spcBef>
                <a:spcPct val="0"/>
              </a:spcBef>
            </a:pPr>
            <a:endParaRPr lang="en-US" sz="3000" b="1" spc="-60" dirty="0">
              <a:solidFill>
                <a:srgbClr val="000000"/>
              </a:solidFill>
              <a:latin typeface="Asap Bold"/>
              <a:ea typeface="Asap Bold"/>
              <a:cs typeface="Asap Bold"/>
              <a:sym typeface="Asap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704608" y="-770501"/>
            <a:ext cx="17211375" cy="13842185"/>
            <a:chOff x="0" y="0"/>
            <a:chExt cx="6679670" cy="53721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79670" cy="5372100"/>
            </a:xfrm>
            <a:custGeom>
              <a:avLst/>
              <a:gdLst/>
              <a:ahLst/>
              <a:cxnLst/>
              <a:rect l="l" t="t" r="r" b="b"/>
              <a:pathLst>
                <a:path w="6679670" h="5372100">
                  <a:moveTo>
                    <a:pt x="5129000" y="0"/>
                  </a:moveTo>
                  <a:lnTo>
                    <a:pt x="1550670" y="0"/>
                  </a:lnTo>
                  <a:lnTo>
                    <a:pt x="0" y="2686050"/>
                  </a:lnTo>
                  <a:lnTo>
                    <a:pt x="1550670" y="5372100"/>
                  </a:lnTo>
                  <a:lnTo>
                    <a:pt x="5129000" y="5372100"/>
                  </a:lnTo>
                  <a:lnTo>
                    <a:pt x="6679670" y="2686050"/>
                  </a:lnTo>
                  <a:lnTo>
                    <a:pt x="5129000" y="0"/>
                  </a:lnTo>
                  <a:close/>
                </a:path>
              </a:pathLst>
            </a:custGeom>
            <a:solidFill>
              <a:srgbClr val="A066CB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9014117" y="3580988"/>
            <a:ext cx="8612281" cy="4457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6" lvl="1" indent="-323853" algn="l">
              <a:lnSpc>
                <a:spcPts val="3900"/>
              </a:lnSpc>
              <a:buFont typeface="Arial"/>
              <a:buChar char="•"/>
            </a:pPr>
            <a:r>
              <a:rPr lang="en-US" sz="3000" spc="-6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MỤC TIÊU VÀ MÔ TẢ ĐỀ TÀI</a:t>
            </a:r>
          </a:p>
          <a:p>
            <a:pPr marL="647706" lvl="1" indent="-323853" algn="l">
              <a:lnSpc>
                <a:spcPts val="3900"/>
              </a:lnSpc>
              <a:buFont typeface="Arial"/>
              <a:buChar char="•"/>
            </a:pPr>
            <a:r>
              <a:rPr lang="en-US" sz="3000" spc="-6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CÔNG NGHỆ TRIỂN KHAI VÀ PHƯƠNG ÁN THỰC HIỆN</a:t>
            </a:r>
          </a:p>
          <a:p>
            <a:pPr marL="647706" lvl="1" indent="-323853" algn="l">
              <a:lnSpc>
                <a:spcPts val="3900"/>
              </a:lnSpc>
              <a:buFont typeface="Arial"/>
              <a:buChar char="•"/>
            </a:pPr>
            <a:r>
              <a:rPr lang="en-US" sz="3000" spc="-6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PHÂN CÔNG NHIỆM VỤ THEO MODULE</a:t>
            </a:r>
          </a:p>
          <a:p>
            <a:pPr marL="647706" lvl="1" indent="-323853" algn="l">
              <a:lnSpc>
                <a:spcPts val="3900"/>
              </a:lnSpc>
              <a:buFont typeface="Arial"/>
              <a:buChar char="•"/>
            </a:pPr>
            <a:r>
              <a:rPr lang="en-US" sz="3000" spc="-6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QUY TRÌNH VÀ LỊCH TRÌNH BÁO CÁO HÀNG TUẦN</a:t>
            </a:r>
          </a:p>
          <a:p>
            <a:pPr marL="647706" lvl="1" indent="-323853" algn="l">
              <a:lnSpc>
                <a:spcPts val="3900"/>
              </a:lnSpc>
              <a:buFont typeface="Arial"/>
              <a:buChar char="•"/>
            </a:pPr>
            <a:r>
              <a:rPr lang="en-US" sz="3000" spc="-6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MỐC THỜI GIAN LÀM VIỆC TỔNG QUAN (TIMELINE)</a:t>
            </a:r>
          </a:p>
          <a:p>
            <a:pPr marL="647706" lvl="1" indent="-323853" algn="l">
              <a:lnSpc>
                <a:spcPts val="3900"/>
              </a:lnSpc>
              <a:buFont typeface="Arial"/>
              <a:buChar char="•"/>
            </a:pPr>
            <a:r>
              <a:rPr lang="en-US" sz="3000" spc="-6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KẾT QUẢ TUẦN 1 VÀ KẾ HOẠCH TUẦN 2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9014117" y="1425387"/>
            <a:ext cx="9273883" cy="1701967"/>
            <a:chOff x="0" y="0"/>
            <a:chExt cx="12365178" cy="2269289"/>
          </a:xfrm>
        </p:grpSpPr>
        <p:grpSp>
          <p:nvGrpSpPr>
            <p:cNvPr id="6" name="Group 6"/>
            <p:cNvGrpSpPr/>
            <p:nvPr/>
          </p:nvGrpSpPr>
          <p:grpSpPr>
            <a:xfrm rot="-10800000">
              <a:off x="0" y="0"/>
              <a:ext cx="12365178" cy="2269289"/>
              <a:chOff x="0" y="0"/>
              <a:chExt cx="29272148" cy="53721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9272148" cy="5372100"/>
              </a:xfrm>
              <a:custGeom>
                <a:avLst/>
                <a:gdLst/>
                <a:ahLst/>
                <a:cxnLst/>
                <a:rect l="l" t="t" r="r" b="b"/>
                <a:pathLst>
                  <a:path w="29272148" h="5372100">
                    <a:moveTo>
                      <a:pt x="27721477" y="0"/>
                    </a:moveTo>
                    <a:lnTo>
                      <a:pt x="1550670" y="0"/>
                    </a:lnTo>
                    <a:lnTo>
                      <a:pt x="0" y="2686050"/>
                    </a:lnTo>
                    <a:lnTo>
                      <a:pt x="1550670" y="5372100"/>
                    </a:lnTo>
                    <a:lnTo>
                      <a:pt x="27721477" y="5372100"/>
                    </a:lnTo>
                    <a:lnTo>
                      <a:pt x="29272148" y="2686050"/>
                    </a:lnTo>
                    <a:lnTo>
                      <a:pt x="27721477" y="0"/>
                    </a:lnTo>
                    <a:close/>
                  </a:path>
                </a:pathLst>
              </a:custGeom>
              <a:solidFill>
                <a:srgbClr val="1836B2"/>
              </a:solidFill>
            </p:spPr>
          </p:sp>
        </p:grpSp>
        <p:sp>
          <p:nvSpPr>
            <p:cNvPr id="8" name="TextBox 8"/>
            <p:cNvSpPr txBox="1"/>
            <p:nvPr/>
          </p:nvSpPr>
          <p:spPr>
            <a:xfrm>
              <a:off x="2967537" y="441461"/>
              <a:ext cx="7778037" cy="14625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387"/>
                </a:lnSpc>
                <a:spcBef>
                  <a:spcPct val="0"/>
                </a:spcBef>
              </a:pPr>
              <a:r>
                <a:rPr lang="en-US" sz="7625" b="1" u="none">
                  <a:solidFill>
                    <a:srgbClr val="FFFFFF"/>
                  </a:solidFill>
                  <a:latin typeface="Asap Semi-Bold"/>
                  <a:ea typeface="Asap Semi-Bold"/>
                  <a:cs typeface="Asap Semi-Bold"/>
                  <a:sym typeface="Asap Semi-Bold"/>
                </a:rPr>
                <a:t>Chương trình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 rot="-10800000">
            <a:off x="182482" y="574404"/>
            <a:ext cx="9273883" cy="1701967"/>
            <a:chOff x="0" y="0"/>
            <a:chExt cx="29272148" cy="53721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9272148" cy="5372100"/>
            </a:xfrm>
            <a:custGeom>
              <a:avLst/>
              <a:gdLst/>
              <a:ahLst/>
              <a:cxnLst/>
              <a:rect l="l" t="t" r="r" b="b"/>
              <a:pathLst>
                <a:path w="29272148" h="5372100">
                  <a:moveTo>
                    <a:pt x="27721477" y="0"/>
                  </a:moveTo>
                  <a:lnTo>
                    <a:pt x="1550670" y="0"/>
                  </a:lnTo>
                  <a:lnTo>
                    <a:pt x="0" y="2686050"/>
                  </a:lnTo>
                  <a:lnTo>
                    <a:pt x="1550670" y="5372100"/>
                  </a:lnTo>
                  <a:lnTo>
                    <a:pt x="27721477" y="5372100"/>
                  </a:lnTo>
                  <a:lnTo>
                    <a:pt x="29272148" y="2686050"/>
                  </a:lnTo>
                  <a:lnTo>
                    <a:pt x="27721477" y="0"/>
                  </a:lnTo>
                  <a:close/>
                </a:path>
              </a:pathLst>
            </a:custGeom>
            <a:solidFill>
              <a:srgbClr val="1836B2"/>
            </a:solidFill>
          </p:spPr>
        </p:sp>
      </p:grpSp>
      <p:sp>
        <p:nvSpPr>
          <p:cNvPr id="11" name="TextBox 11"/>
          <p:cNvSpPr txBox="1"/>
          <p:nvPr/>
        </p:nvSpPr>
        <p:spPr>
          <a:xfrm>
            <a:off x="0" y="703175"/>
            <a:ext cx="9273883" cy="1301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681"/>
              </a:lnSpc>
              <a:spcBef>
                <a:spcPct val="0"/>
              </a:spcBef>
            </a:pPr>
            <a:r>
              <a:rPr lang="en-US" sz="7629" b="1">
                <a:solidFill>
                  <a:srgbClr val="FFFFFF"/>
                </a:solidFill>
                <a:latin typeface="Asap Bold"/>
                <a:ea typeface="Asap Bold"/>
                <a:cs typeface="Asap Bold"/>
                <a:sym typeface="Asap Bold"/>
              </a:rPr>
              <a:t>Thành viên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82482" y="2609587"/>
            <a:ext cx="8612281" cy="1980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6" lvl="1" indent="-323853" algn="l">
              <a:lnSpc>
                <a:spcPts val="3900"/>
              </a:lnSpc>
              <a:buFont typeface="Arial"/>
              <a:buChar char="•"/>
            </a:pPr>
            <a:r>
              <a:rPr lang="en-US" sz="3000" b="1" spc="-60">
                <a:solidFill>
                  <a:srgbClr val="000000"/>
                </a:solidFill>
                <a:latin typeface="Asap Medium"/>
                <a:ea typeface="Asap Medium"/>
                <a:cs typeface="Asap Medium"/>
                <a:sym typeface="Asap Medium"/>
              </a:rPr>
              <a:t>Tạ Đức Dương – 2001240098 (Nhóm trưởng)</a:t>
            </a:r>
          </a:p>
          <a:p>
            <a:pPr marL="647706" lvl="1" indent="-323853" algn="l">
              <a:lnSpc>
                <a:spcPts val="3900"/>
              </a:lnSpc>
              <a:buFont typeface="Arial"/>
              <a:buChar char="•"/>
            </a:pPr>
            <a:r>
              <a:rPr lang="en-US" sz="3000" b="1" spc="-60">
                <a:solidFill>
                  <a:srgbClr val="000000"/>
                </a:solidFill>
                <a:latin typeface="Asap Medium"/>
                <a:ea typeface="Asap Medium"/>
                <a:cs typeface="Asap Medium"/>
                <a:sym typeface="Asap Medium"/>
              </a:rPr>
              <a:t>Lê Thị Quỳnh Trang – 2001240510</a:t>
            </a:r>
          </a:p>
          <a:p>
            <a:pPr marL="647706" lvl="1" indent="-323853" algn="l">
              <a:lnSpc>
                <a:spcPts val="3900"/>
              </a:lnSpc>
              <a:buFont typeface="Arial"/>
              <a:buChar char="•"/>
            </a:pPr>
            <a:r>
              <a:rPr lang="en-US" sz="3000" b="1" spc="-60">
                <a:solidFill>
                  <a:srgbClr val="000000"/>
                </a:solidFill>
                <a:latin typeface="Asap Medium"/>
                <a:ea typeface="Asap Medium"/>
                <a:cs typeface="Asap Medium"/>
                <a:sym typeface="Asap Medium"/>
              </a:rPr>
              <a:t>Nguyễn Thị Trinh – 2001240516</a:t>
            </a:r>
          </a:p>
          <a:p>
            <a:pPr marL="0" lvl="0" indent="0" algn="l">
              <a:lnSpc>
                <a:spcPts val="3900"/>
              </a:lnSpc>
              <a:spcBef>
                <a:spcPct val="0"/>
              </a:spcBef>
            </a:pPr>
            <a:endParaRPr lang="en-US" sz="3000" b="1" spc="-60">
              <a:solidFill>
                <a:srgbClr val="000000"/>
              </a:solidFill>
              <a:latin typeface="Asap Medium"/>
              <a:ea typeface="Asap Medium"/>
              <a:cs typeface="Asap Medium"/>
              <a:sym typeface="Asap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3681099" y="7215264"/>
            <a:ext cx="7156403" cy="4086071"/>
          </a:xfrm>
          <a:custGeom>
            <a:avLst/>
            <a:gdLst/>
            <a:ahLst/>
            <a:cxnLst/>
            <a:rect l="l" t="t" r="r" b="b"/>
            <a:pathLst>
              <a:path w="7156403" h="4086071">
                <a:moveTo>
                  <a:pt x="7156402" y="0"/>
                </a:moveTo>
                <a:lnTo>
                  <a:pt x="0" y="0"/>
                </a:lnTo>
                <a:lnTo>
                  <a:pt x="0" y="4086072"/>
                </a:lnTo>
                <a:lnTo>
                  <a:pt x="7156402" y="4086072"/>
                </a:lnTo>
                <a:lnTo>
                  <a:pt x="715640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51576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549740" y="820457"/>
            <a:ext cx="12093673" cy="5635391"/>
            <a:chOff x="0" y="0"/>
            <a:chExt cx="16124898" cy="7513855"/>
          </a:xfrm>
        </p:grpSpPr>
        <p:sp>
          <p:nvSpPr>
            <p:cNvPr id="4" name="TextBox 4"/>
            <p:cNvSpPr txBox="1"/>
            <p:nvPr/>
          </p:nvSpPr>
          <p:spPr>
            <a:xfrm>
              <a:off x="0" y="-9525"/>
              <a:ext cx="16124898" cy="31098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255"/>
                </a:lnSpc>
              </a:pPr>
              <a:r>
                <a:rPr lang="en-US" sz="7648" b="1">
                  <a:solidFill>
                    <a:srgbClr val="000000"/>
                  </a:solidFill>
                  <a:latin typeface="Asap Semi-Bold"/>
                  <a:ea typeface="Asap Semi-Bold"/>
                  <a:cs typeface="Asap Semi-Bold"/>
                  <a:sym typeface="Asap Semi-Bold"/>
                </a:rPr>
                <a:t>MỤC</a:t>
              </a:r>
              <a:r>
                <a:rPr lang="en-US" sz="7648" b="1" u="none">
                  <a:solidFill>
                    <a:srgbClr val="000000"/>
                  </a:solidFill>
                  <a:latin typeface="Asap Semi-Bold"/>
                  <a:ea typeface="Asap Semi-Bold"/>
                  <a:cs typeface="Asap Semi-Bold"/>
                  <a:sym typeface="Asap Semi-Bold"/>
                </a:rPr>
                <a:t> TIÊU &amp; MÔ TẢ ĐỀ TÀI</a:t>
              </a:r>
            </a:p>
            <a:p>
              <a:pPr marL="0" lvl="0" indent="0" algn="l">
                <a:lnSpc>
                  <a:spcPts val="9255"/>
                </a:lnSpc>
              </a:pPr>
              <a:endParaRPr lang="en-US" sz="7648" b="1" u="none">
                <a:solidFill>
                  <a:srgbClr val="000000"/>
                </a:solidFill>
                <a:latin typeface="Asap Semi-Bold"/>
                <a:ea typeface="Asap Semi-Bold"/>
                <a:cs typeface="Asap Semi-Bold"/>
                <a:sym typeface="Asap Semi-Bold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860739" y="6897013"/>
              <a:ext cx="7951355" cy="6168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764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549740" y="2026598"/>
            <a:ext cx="13946247" cy="68593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94"/>
              </a:lnSpc>
            </a:pPr>
            <a:r>
              <a:rPr lang="en-US" sz="2424" b="1" dirty="0">
                <a:solidFill>
                  <a:srgbClr val="000000"/>
                </a:solidFill>
                <a:latin typeface="Asap Bold"/>
                <a:ea typeface="Asap Bold"/>
                <a:cs typeface="Asap Bold"/>
                <a:sym typeface="Asap Bold"/>
              </a:rPr>
              <a:t>1. Định </a:t>
            </a:r>
            <a:r>
              <a:rPr lang="en-US" sz="2424" b="1" dirty="0" err="1">
                <a:solidFill>
                  <a:srgbClr val="000000"/>
                </a:solidFill>
                <a:latin typeface="Asap Bold"/>
                <a:ea typeface="Asap Bold"/>
                <a:cs typeface="Asap Bold"/>
                <a:sym typeface="Asap Bold"/>
              </a:rPr>
              <a:t>hướng</a:t>
            </a:r>
            <a:r>
              <a:rPr lang="en-US" sz="2424" b="1" dirty="0">
                <a:solidFill>
                  <a:srgbClr val="000000"/>
                </a:solidFill>
                <a:latin typeface="Asap Bold"/>
                <a:ea typeface="Asap Bold"/>
                <a:cs typeface="Asap Bold"/>
                <a:sym typeface="Asap Bold"/>
              </a:rPr>
              <a:t> </a:t>
            </a:r>
            <a:r>
              <a:rPr lang="en-US" sz="2424" b="1" dirty="0" err="1">
                <a:solidFill>
                  <a:srgbClr val="000000"/>
                </a:solidFill>
                <a:latin typeface="Asap Bold"/>
                <a:ea typeface="Asap Bold"/>
                <a:cs typeface="Asap Bold"/>
                <a:sym typeface="Asap Bold"/>
              </a:rPr>
              <a:t>ứng</a:t>
            </a:r>
            <a:r>
              <a:rPr lang="en-US" sz="2424" b="1" dirty="0">
                <a:solidFill>
                  <a:srgbClr val="000000"/>
                </a:solidFill>
                <a:latin typeface="Asap Bold"/>
                <a:ea typeface="Asap Bold"/>
                <a:cs typeface="Asap Bold"/>
                <a:sym typeface="Asap Bold"/>
              </a:rPr>
              <a:t> </a:t>
            </a:r>
            <a:r>
              <a:rPr lang="en-US" sz="2424" b="1" dirty="0" err="1">
                <a:solidFill>
                  <a:srgbClr val="000000"/>
                </a:solidFill>
                <a:latin typeface="Asap Bold"/>
                <a:ea typeface="Asap Bold"/>
                <a:cs typeface="Asap Bold"/>
                <a:sym typeface="Asap Bold"/>
              </a:rPr>
              <a:t>dụng</a:t>
            </a:r>
            <a:endParaRPr lang="en-US" sz="2424" b="1" dirty="0">
              <a:solidFill>
                <a:srgbClr val="000000"/>
              </a:solidFill>
              <a:latin typeface="Asap Bold"/>
              <a:ea typeface="Asap Bold"/>
              <a:cs typeface="Asap Bold"/>
              <a:sym typeface="Asap Bold"/>
            </a:endParaRPr>
          </a:p>
          <a:p>
            <a:pPr algn="just">
              <a:lnSpc>
                <a:spcPts val="3394"/>
              </a:lnSpc>
            </a:pPr>
            <a:r>
              <a:rPr lang="en-US" sz="2424" b="1" dirty="0">
                <a:solidFill>
                  <a:srgbClr val="000000"/>
                </a:solidFill>
                <a:latin typeface="Asap Bold"/>
                <a:ea typeface="Asap Bold"/>
                <a:cs typeface="Asap Bold"/>
                <a:sym typeface="Asap Bold"/>
              </a:rPr>
              <a:t> - 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Nhu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cầu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chăm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sóc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sức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khỏe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chủ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động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đang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ngày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càng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gia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tăng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,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tuy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nhiên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người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dùng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thường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gặp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khó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khăn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trong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việc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duy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trì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thói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quen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theo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dõi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và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phân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tích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chỉ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số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cơ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thể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hàng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ngày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nếu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thiếu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công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cụ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hỗ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trợ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trực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quan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nên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nhóm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đã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chọn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đề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tài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xây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dựng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một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ứng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dụng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di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động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đa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nền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tảng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(Android )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đóng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vai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trò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như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một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trợ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lý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sức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khỏe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cá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nhân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giúp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người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dùng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dễ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dàng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ghi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nhận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,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theo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dõi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diễn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biến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thể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trạng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và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điều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chỉnh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chế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độ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dinh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dưỡng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một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cách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khoa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học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,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tinh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gọn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và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phù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hợp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với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cơ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địa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từng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cá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nhân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.</a:t>
            </a:r>
          </a:p>
          <a:p>
            <a:pPr algn="just">
              <a:lnSpc>
                <a:spcPts val="2835"/>
              </a:lnSpc>
            </a:pPr>
            <a:endParaRPr lang="en-US" sz="2424" dirty="0">
              <a:solidFill>
                <a:srgbClr val="000000"/>
              </a:solidFill>
              <a:latin typeface="Asap"/>
              <a:ea typeface="Asap"/>
              <a:cs typeface="Asap"/>
              <a:sym typeface="Asap"/>
            </a:endParaRPr>
          </a:p>
          <a:p>
            <a:pPr algn="just">
              <a:lnSpc>
                <a:spcPts val="3394"/>
              </a:lnSpc>
            </a:pPr>
            <a:r>
              <a:rPr lang="en-US" sz="2424" b="1" dirty="0">
                <a:solidFill>
                  <a:srgbClr val="000000"/>
                </a:solidFill>
                <a:latin typeface="Asap Bold"/>
                <a:ea typeface="Asap Bold"/>
                <a:cs typeface="Asap Bold"/>
                <a:sym typeface="Asap Bold"/>
              </a:rPr>
              <a:t>2. </a:t>
            </a:r>
            <a:r>
              <a:rPr lang="en-US" sz="2424" b="1" dirty="0" err="1">
                <a:solidFill>
                  <a:srgbClr val="000000"/>
                </a:solidFill>
                <a:latin typeface="Asap Bold"/>
                <a:ea typeface="Asap Bold"/>
                <a:cs typeface="Asap Bold"/>
                <a:sym typeface="Asap Bold"/>
              </a:rPr>
              <a:t>Tính</a:t>
            </a:r>
            <a:r>
              <a:rPr lang="en-US" sz="2424" b="1" dirty="0">
                <a:solidFill>
                  <a:srgbClr val="000000"/>
                </a:solidFill>
                <a:latin typeface="Asap Bold"/>
                <a:ea typeface="Asap Bold"/>
                <a:cs typeface="Asap Bold"/>
                <a:sym typeface="Asap Bold"/>
              </a:rPr>
              <a:t> </a:t>
            </a:r>
            <a:r>
              <a:rPr lang="en-US" sz="2424" b="1" dirty="0" err="1">
                <a:solidFill>
                  <a:srgbClr val="000000"/>
                </a:solidFill>
                <a:latin typeface="Asap Bold"/>
                <a:ea typeface="Asap Bold"/>
                <a:cs typeface="Asap Bold"/>
                <a:sym typeface="Asap Bold"/>
              </a:rPr>
              <a:t>năng</a:t>
            </a:r>
            <a:r>
              <a:rPr lang="en-US" sz="2424" b="1" dirty="0">
                <a:solidFill>
                  <a:srgbClr val="000000"/>
                </a:solidFill>
                <a:latin typeface="Asap Bold"/>
                <a:ea typeface="Asap Bold"/>
                <a:cs typeface="Asap Bold"/>
                <a:sym typeface="Asap Bold"/>
              </a:rPr>
              <a:t> </a:t>
            </a:r>
            <a:r>
              <a:rPr lang="en-US" sz="2424" b="1" dirty="0" err="1">
                <a:solidFill>
                  <a:srgbClr val="000000"/>
                </a:solidFill>
                <a:latin typeface="Asap Bold"/>
                <a:ea typeface="Asap Bold"/>
                <a:cs typeface="Asap Bold"/>
                <a:sym typeface="Asap Bold"/>
              </a:rPr>
              <a:t>cốt</a:t>
            </a:r>
            <a:r>
              <a:rPr lang="en-US" sz="2424" b="1" dirty="0">
                <a:solidFill>
                  <a:srgbClr val="000000"/>
                </a:solidFill>
                <a:latin typeface="Asap Bold"/>
                <a:ea typeface="Asap Bold"/>
                <a:cs typeface="Asap Bold"/>
                <a:sym typeface="Asap Bold"/>
              </a:rPr>
              <a:t> </a:t>
            </a:r>
            <a:r>
              <a:rPr lang="en-US" sz="2424" b="1" dirty="0" err="1">
                <a:solidFill>
                  <a:srgbClr val="000000"/>
                </a:solidFill>
                <a:latin typeface="Asap Bold"/>
                <a:ea typeface="Asap Bold"/>
                <a:cs typeface="Asap Bold"/>
                <a:sym typeface="Asap Bold"/>
              </a:rPr>
              <a:t>lõi</a:t>
            </a:r>
            <a:endParaRPr lang="en-US" sz="2424" b="1" dirty="0">
              <a:solidFill>
                <a:srgbClr val="000000"/>
              </a:solidFill>
              <a:latin typeface="Asap Bold"/>
              <a:ea typeface="Asap Bold"/>
              <a:cs typeface="Asap Bold"/>
              <a:sym typeface="Asap Bold"/>
            </a:endParaRPr>
          </a:p>
          <a:p>
            <a:pPr marL="523557" lvl="1" indent="-261778" algn="just">
              <a:lnSpc>
                <a:spcPts val="3394"/>
              </a:lnSpc>
              <a:buFont typeface="Arial"/>
              <a:buChar char="•"/>
            </a:pP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Đo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lường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&amp;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Đánh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giá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chỉ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số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cơ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thể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(BMI):</a:t>
            </a:r>
          </a:p>
          <a:p>
            <a:pPr marL="523557" lvl="1" indent="-261778" algn="just">
              <a:lnSpc>
                <a:spcPts val="3394"/>
              </a:lnSpc>
              <a:buFont typeface="Arial"/>
              <a:buChar char="•"/>
            </a:pP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Ghi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chú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&amp;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Kiểm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soát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dinh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dưỡng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hàng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ngày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:</a:t>
            </a:r>
          </a:p>
          <a:p>
            <a:pPr algn="just">
              <a:lnSpc>
                <a:spcPts val="3394"/>
              </a:lnSpc>
            </a:pPr>
            <a:endParaRPr lang="en-US" sz="2424" dirty="0">
              <a:solidFill>
                <a:srgbClr val="000000"/>
              </a:solidFill>
              <a:latin typeface="Asap"/>
              <a:ea typeface="Asap"/>
              <a:cs typeface="Asap"/>
              <a:sym typeface="Asap"/>
            </a:endParaRPr>
          </a:p>
          <a:p>
            <a:pPr algn="just">
              <a:lnSpc>
                <a:spcPts val="3394"/>
              </a:lnSpc>
            </a:pPr>
            <a:r>
              <a:rPr lang="en-US" sz="2424" b="1" dirty="0">
                <a:solidFill>
                  <a:srgbClr val="000000"/>
                </a:solidFill>
                <a:latin typeface="Asap Bold"/>
                <a:ea typeface="Asap Bold"/>
                <a:cs typeface="Asap Bold"/>
                <a:sym typeface="Asap Bold"/>
              </a:rPr>
              <a:t>3. </a:t>
            </a:r>
            <a:r>
              <a:rPr lang="en-US" sz="2424" b="1" dirty="0" err="1">
                <a:solidFill>
                  <a:srgbClr val="000000"/>
                </a:solidFill>
                <a:latin typeface="Asap Bold"/>
                <a:ea typeface="Asap Bold"/>
                <a:cs typeface="Asap Bold"/>
                <a:sym typeface="Asap Bold"/>
              </a:rPr>
              <a:t>Điểm</a:t>
            </a:r>
            <a:r>
              <a:rPr lang="en-US" sz="2424" b="1" dirty="0">
                <a:solidFill>
                  <a:srgbClr val="000000"/>
                </a:solidFill>
                <a:latin typeface="Asap Bold"/>
                <a:ea typeface="Asap Bold"/>
                <a:cs typeface="Asap Bold"/>
                <a:sym typeface="Asap Bold"/>
              </a:rPr>
              <a:t> </a:t>
            </a:r>
            <a:r>
              <a:rPr lang="en-US" sz="2424" b="1" dirty="0" err="1">
                <a:solidFill>
                  <a:srgbClr val="000000"/>
                </a:solidFill>
                <a:latin typeface="Asap Bold"/>
                <a:ea typeface="Asap Bold"/>
                <a:cs typeface="Asap Bold"/>
                <a:sym typeface="Asap Bold"/>
              </a:rPr>
              <a:t>nhấn</a:t>
            </a:r>
            <a:r>
              <a:rPr lang="en-US" sz="2424" b="1" dirty="0">
                <a:solidFill>
                  <a:srgbClr val="000000"/>
                </a:solidFill>
                <a:latin typeface="Asap Bold"/>
                <a:ea typeface="Asap Bold"/>
                <a:cs typeface="Asap Bold"/>
                <a:sym typeface="Asap Bold"/>
              </a:rPr>
              <a:t> </a:t>
            </a:r>
            <a:r>
              <a:rPr lang="en-US" sz="2424" b="1" dirty="0" err="1">
                <a:solidFill>
                  <a:srgbClr val="000000"/>
                </a:solidFill>
                <a:latin typeface="Asap Bold"/>
                <a:ea typeface="Asap Bold"/>
                <a:cs typeface="Asap Bold"/>
                <a:sym typeface="Asap Bold"/>
              </a:rPr>
              <a:t>thực</a:t>
            </a:r>
            <a:r>
              <a:rPr lang="en-US" sz="2424" b="1" dirty="0">
                <a:solidFill>
                  <a:srgbClr val="000000"/>
                </a:solidFill>
                <a:latin typeface="Asap Bold"/>
                <a:ea typeface="Asap Bold"/>
                <a:cs typeface="Asap Bold"/>
                <a:sym typeface="Asap Bold"/>
              </a:rPr>
              <a:t> </a:t>
            </a:r>
            <a:r>
              <a:rPr lang="en-US" sz="2424" b="1" dirty="0" err="1">
                <a:solidFill>
                  <a:srgbClr val="000000"/>
                </a:solidFill>
                <a:latin typeface="Asap Bold"/>
                <a:ea typeface="Asap Bold"/>
                <a:cs typeface="Asap Bold"/>
                <a:sym typeface="Asap Bold"/>
              </a:rPr>
              <a:t>tiễn</a:t>
            </a:r>
            <a:r>
              <a:rPr lang="en-US" sz="2424" b="1" dirty="0">
                <a:solidFill>
                  <a:srgbClr val="000000"/>
                </a:solidFill>
                <a:latin typeface="Asap Bold"/>
                <a:ea typeface="Asap Bold"/>
                <a:cs typeface="Asap Bold"/>
                <a:sym typeface="Asap Bold"/>
              </a:rPr>
              <a:t> &amp; </a:t>
            </a:r>
            <a:r>
              <a:rPr lang="en-US" sz="2424" b="1" dirty="0" err="1">
                <a:solidFill>
                  <a:srgbClr val="000000"/>
                </a:solidFill>
                <a:latin typeface="Asap Bold"/>
                <a:ea typeface="Asap Bold"/>
                <a:cs typeface="Asap Bold"/>
                <a:sym typeface="Asap Bold"/>
              </a:rPr>
              <a:t>Giá</a:t>
            </a:r>
            <a:r>
              <a:rPr lang="en-US" sz="2424" b="1" dirty="0">
                <a:solidFill>
                  <a:srgbClr val="000000"/>
                </a:solidFill>
                <a:latin typeface="Asap Bold"/>
                <a:ea typeface="Asap Bold"/>
                <a:cs typeface="Asap Bold"/>
                <a:sym typeface="Asap Bold"/>
              </a:rPr>
              <a:t> </a:t>
            </a:r>
            <a:r>
              <a:rPr lang="en-US" sz="2424" b="1" dirty="0" err="1">
                <a:solidFill>
                  <a:srgbClr val="000000"/>
                </a:solidFill>
                <a:latin typeface="Asap Bold"/>
                <a:ea typeface="Asap Bold"/>
                <a:cs typeface="Asap Bold"/>
                <a:sym typeface="Asap Bold"/>
              </a:rPr>
              <a:t>trị</a:t>
            </a:r>
            <a:r>
              <a:rPr lang="en-US" sz="2424" b="1" dirty="0">
                <a:solidFill>
                  <a:srgbClr val="000000"/>
                </a:solidFill>
                <a:latin typeface="Asap Bold"/>
                <a:ea typeface="Asap Bold"/>
                <a:cs typeface="Asap Bold"/>
                <a:sym typeface="Asap Bold"/>
              </a:rPr>
              <a:t> </a:t>
            </a:r>
            <a:r>
              <a:rPr lang="en-US" sz="2424" b="1" dirty="0" err="1">
                <a:solidFill>
                  <a:srgbClr val="000000"/>
                </a:solidFill>
                <a:latin typeface="Asap Bold"/>
                <a:ea typeface="Asap Bold"/>
                <a:cs typeface="Asap Bold"/>
                <a:sym typeface="Asap Bold"/>
              </a:rPr>
              <a:t>khác</a:t>
            </a:r>
            <a:r>
              <a:rPr lang="en-US" sz="2424" b="1" dirty="0">
                <a:solidFill>
                  <a:srgbClr val="000000"/>
                </a:solidFill>
                <a:latin typeface="Asap Bold"/>
                <a:ea typeface="Asap Bold"/>
                <a:cs typeface="Asap Bold"/>
                <a:sym typeface="Asap Bold"/>
              </a:rPr>
              <a:t> </a:t>
            </a:r>
            <a:r>
              <a:rPr lang="en-US" sz="2424" b="1" dirty="0" err="1">
                <a:solidFill>
                  <a:srgbClr val="000000"/>
                </a:solidFill>
                <a:latin typeface="Asap Bold"/>
                <a:ea typeface="Asap Bold"/>
                <a:cs typeface="Asap Bold"/>
                <a:sym typeface="Asap Bold"/>
              </a:rPr>
              <a:t>biệt</a:t>
            </a:r>
            <a:endParaRPr lang="en-US" sz="2424" b="1" dirty="0">
              <a:solidFill>
                <a:srgbClr val="000000"/>
              </a:solidFill>
              <a:latin typeface="Asap Bold"/>
              <a:ea typeface="Asap Bold"/>
              <a:cs typeface="Asap Bold"/>
              <a:sym typeface="Asap Bold"/>
            </a:endParaRPr>
          </a:p>
          <a:p>
            <a:pPr marL="523557" lvl="1" indent="-261778" algn="just">
              <a:lnSpc>
                <a:spcPts val="3394"/>
              </a:lnSpc>
              <a:buFont typeface="Arial"/>
              <a:buChar char="•"/>
            </a:pP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Cá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nhân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hóa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theo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mục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tiêu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cụ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thể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: Thay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vì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chỉ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theo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dõi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sức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khỏe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chung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chung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,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ứng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dụng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hướng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tới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hỗ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trợ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sâu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cho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từng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nhu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cầu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thể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hình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riêng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biệt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:</a:t>
            </a:r>
          </a:p>
          <a:p>
            <a:pPr marL="523557" lvl="1" indent="-261778" algn="just">
              <a:lnSpc>
                <a:spcPts val="3394"/>
              </a:lnSpc>
              <a:buFont typeface="Arial"/>
              <a:buChar char="•"/>
            </a:pP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Tính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thực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tế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cao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: Danh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mục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thực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phẩm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và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công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thức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tính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toán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được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tối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ưu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cho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thói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quen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ăn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uống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thực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tế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,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giúp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việc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ghi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chép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trở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nên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đơn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giản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,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nhanh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chóng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và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không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gây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nản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cho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người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sử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2424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dụng</a:t>
            </a:r>
            <a:r>
              <a:rPr lang="en-US" sz="2424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264477" y="-3460546"/>
            <a:ext cx="12450234" cy="6921093"/>
            <a:chOff x="0" y="0"/>
            <a:chExt cx="9663778" cy="53721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663778" cy="5372100"/>
            </a:xfrm>
            <a:custGeom>
              <a:avLst/>
              <a:gdLst/>
              <a:ahLst/>
              <a:cxnLst/>
              <a:rect l="l" t="t" r="r" b="b"/>
              <a:pathLst>
                <a:path w="9663778" h="5372100">
                  <a:moveTo>
                    <a:pt x="8113108" y="0"/>
                  </a:moveTo>
                  <a:lnTo>
                    <a:pt x="1550670" y="0"/>
                  </a:lnTo>
                  <a:lnTo>
                    <a:pt x="0" y="2686050"/>
                  </a:lnTo>
                  <a:lnTo>
                    <a:pt x="1550670" y="5372100"/>
                  </a:lnTo>
                  <a:lnTo>
                    <a:pt x="8113108" y="5372100"/>
                  </a:lnTo>
                  <a:lnTo>
                    <a:pt x="9663778" y="2686050"/>
                  </a:lnTo>
                  <a:lnTo>
                    <a:pt x="8113108" y="0"/>
                  </a:lnTo>
                  <a:close/>
                </a:path>
              </a:pathLst>
            </a:custGeom>
            <a:solidFill>
              <a:srgbClr val="1836B2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3960640" y="1004897"/>
            <a:ext cx="15039322" cy="1752749"/>
            <a:chOff x="0" y="0"/>
            <a:chExt cx="20052429" cy="2336999"/>
          </a:xfrm>
        </p:grpSpPr>
        <p:grpSp>
          <p:nvGrpSpPr>
            <p:cNvPr id="5" name="Group 5"/>
            <p:cNvGrpSpPr/>
            <p:nvPr/>
          </p:nvGrpSpPr>
          <p:grpSpPr>
            <a:xfrm rot="-10800000">
              <a:off x="0" y="31738"/>
              <a:ext cx="20052429" cy="2269289"/>
              <a:chOff x="0" y="0"/>
              <a:chExt cx="47470215" cy="53721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47470216" cy="5372100"/>
              </a:xfrm>
              <a:custGeom>
                <a:avLst/>
                <a:gdLst/>
                <a:ahLst/>
                <a:cxnLst/>
                <a:rect l="l" t="t" r="r" b="b"/>
                <a:pathLst>
                  <a:path w="47470216" h="5372100">
                    <a:moveTo>
                      <a:pt x="45919544" y="0"/>
                    </a:moveTo>
                    <a:lnTo>
                      <a:pt x="1550670" y="0"/>
                    </a:lnTo>
                    <a:lnTo>
                      <a:pt x="0" y="2686050"/>
                    </a:lnTo>
                    <a:lnTo>
                      <a:pt x="1550670" y="5372100"/>
                    </a:lnTo>
                    <a:lnTo>
                      <a:pt x="45919544" y="5372100"/>
                    </a:lnTo>
                    <a:lnTo>
                      <a:pt x="47470216" y="2686050"/>
                    </a:lnTo>
                    <a:lnTo>
                      <a:pt x="45919544" y="0"/>
                    </a:lnTo>
                    <a:close/>
                  </a:path>
                </a:pathLst>
              </a:custGeom>
              <a:solidFill>
                <a:srgbClr val="A066CB"/>
              </a:solidFill>
            </p:spPr>
          </p:sp>
        </p:grpSp>
        <p:sp>
          <p:nvSpPr>
            <p:cNvPr id="7" name="TextBox 7"/>
            <p:cNvSpPr txBox="1"/>
            <p:nvPr/>
          </p:nvSpPr>
          <p:spPr>
            <a:xfrm>
              <a:off x="550707" y="47625"/>
              <a:ext cx="18050306" cy="228937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6600"/>
                </a:lnSpc>
                <a:spcBef>
                  <a:spcPct val="0"/>
                </a:spcBef>
              </a:pPr>
              <a:r>
                <a:rPr lang="en-US" sz="6000" b="1">
                  <a:solidFill>
                    <a:srgbClr val="FFFFFF"/>
                  </a:solidFill>
                  <a:latin typeface="Asap Semi-Bold"/>
                  <a:ea typeface="Asap Semi-Bold"/>
                  <a:cs typeface="Asap Semi-Bold"/>
                  <a:sym typeface="Asap Semi-Bold"/>
                </a:rPr>
                <a:t>CÔN</a:t>
              </a:r>
              <a:r>
                <a:rPr lang="en-US" sz="6000" b="1" u="none">
                  <a:solidFill>
                    <a:srgbClr val="FFFFFF"/>
                  </a:solidFill>
                  <a:latin typeface="Asap Semi-Bold"/>
                  <a:ea typeface="Asap Semi-Bold"/>
                  <a:cs typeface="Asap Semi-Bold"/>
                  <a:sym typeface="Asap Semi-Bold"/>
                </a:rPr>
                <a:t>G NGHỆ TRIỂN KHAI &amp; PHƯƠNG ÁN THỰC HIỆN</a:t>
              </a:r>
            </a:p>
          </p:txBody>
        </p:sp>
      </p:grp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7525491"/>
              </p:ext>
            </p:extLst>
          </p:nvPr>
        </p:nvGraphicFramePr>
        <p:xfrm>
          <a:off x="381000" y="3709764"/>
          <a:ext cx="17185260" cy="6547837"/>
        </p:xfrm>
        <a:graphic>
          <a:graphicData uri="http://schemas.openxmlformats.org/drawingml/2006/table">
            <a:tbl>
              <a:tblPr/>
              <a:tblGrid>
                <a:gridCol w="5728420">
                  <a:extLst>
                    <a:ext uri="{9D8B030D-6E8A-4147-A177-3AD203B41FA5}">
                      <a16:colId xmlns:a16="http://schemas.microsoft.com/office/drawing/2014/main" val="3678155254"/>
                    </a:ext>
                  </a:extLst>
                </a:gridCol>
                <a:gridCol w="5728420">
                  <a:extLst>
                    <a:ext uri="{9D8B030D-6E8A-4147-A177-3AD203B41FA5}">
                      <a16:colId xmlns:a16="http://schemas.microsoft.com/office/drawing/2014/main" val="2618941532"/>
                    </a:ext>
                  </a:extLst>
                </a:gridCol>
                <a:gridCol w="5728420">
                  <a:extLst>
                    <a:ext uri="{9D8B030D-6E8A-4147-A177-3AD203B41FA5}">
                      <a16:colId xmlns:a16="http://schemas.microsoft.com/office/drawing/2014/main" val="2046205844"/>
                    </a:ext>
                  </a:extLst>
                </a:gridCol>
              </a:tblGrid>
              <a:tr h="1350013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750"/>
                        </a:spcBef>
                        <a:spcAft>
                          <a:spcPts val="750"/>
                        </a:spcAft>
                      </a:pPr>
                      <a:r>
                        <a:rPr lang="vi-VN" sz="2400" b="1" i="0" u="none" strike="noStrike">
                          <a:solidFill>
                            <a:srgbClr val="2C3E50"/>
                          </a:solidFill>
                          <a:effectLst/>
                          <a:latin typeface="Asap Semi-Bold" panose="020B0604020202020204" charset="0"/>
                        </a:rPr>
                        <a:t>Thành phần</a:t>
                      </a:r>
                      <a:endParaRPr lang="vi-VN" sz="2400" b="1">
                        <a:effectLst/>
                        <a:latin typeface="Asap Semi-Bold" panose="020B0604020202020204" charset="0"/>
                      </a:endParaRPr>
                    </a:p>
                  </a:txBody>
                  <a:tcPr marL="114300" marR="114300" marT="95250" marB="9525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750"/>
                        </a:spcBef>
                        <a:spcAft>
                          <a:spcPts val="750"/>
                        </a:spcAft>
                      </a:pPr>
                      <a:r>
                        <a:rPr lang="vi-VN" sz="2400" b="1" i="0" u="none" strike="noStrike">
                          <a:solidFill>
                            <a:srgbClr val="2C3E50"/>
                          </a:solidFill>
                          <a:effectLst/>
                          <a:latin typeface="Asap Semi-Bold" panose="020B0604020202020204" charset="0"/>
                        </a:rPr>
                        <a:t>Công nghệ / Công cụ</a:t>
                      </a:r>
                      <a:endParaRPr lang="vi-VN" sz="2400" b="1">
                        <a:effectLst/>
                        <a:latin typeface="Asap Semi-Bold" panose="020B0604020202020204" charset="0"/>
                      </a:endParaRPr>
                    </a:p>
                  </a:txBody>
                  <a:tcPr marL="114300" marR="114300" marT="95250" marB="9525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750"/>
                        </a:spcBef>
                        <a:spcAft>
                          <a:spcPts val="750"/>
                        </a:spcAft>
                      </a:pPr>
                      <a:r>
                        <a:rPr lang="vi-VN" sz="2400" b="1" i="0" u="none" strike="noStrike">
                          <a:solidFill>
                            <a:srgbClr val="2C3E50"/>
                          </a:solidFill>
                          <a:effectLst/>
                          <a:latin typeface="Asap Semi-Bold" panose="020B0604020202020204" charset="0"/>
                        </a:rPr>
                        <a:t>Vai trò &amp; Mô tả</a:t>
                      </a:r>
                      <a:endParaRPr lang="vi-VN" sz="2400" b="1">
                        <a:effectLst/>
                        <a:latin typeface="Asap Semi-Bold" panose="020B060402020202020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2400" b="1" i="0" u="none" strike="noStrike">
                          <a:solidFill>
                            <a:srgbClr val="333333"/>
                          </a:solidFill>
                          <a:effectLst/>
                          <a:latin typeface="Asap Semi-Bold" panose="020B0604020202020204" charset="0"/>
                        </a:rPr>
                        <a:t> </a:t>
                      </a:r>
                      <a:endParaRPr lang="vi-VN" sz="2400" b="1">
                        <a:effectLst/>
                        <a:latin typeface="Asap Semi-Bold" panose="020B0604020202020204" charset="0"/>
                      </a:endParaRPr>
                    </a:p>
                  </a:txBody>
                  <a:tcPr marL="114300" marR="114300" marT="95250" marB="9525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0398903"/>
                  </a:ext>
                </a:extLst>
              </a:tr>
              <a:tr h="1492120">
                <a:tc>
                  <a:txBody>
                    <a:bodyPr/>
                    <a:lstStyle/>
                    <a:p>
                      <a:pPr rtl="0" fontAlgn="t">
                        <a:spcBef>
                          <a:spcPts val="750"/>
                        </a:spcBef>
                        <a:spcAft>
                          <a:spcPts val="750"/>
                        </a:spcAft>
                      </a:pPr>
                      <a:r>
                        <a:rPr lang="vi-VN" sz="2400" b="1" i="0" u="none" strike="noStrike">
                          <a:solidFill>
                            <a:srgbClr val="333333"/>
                          </a:solidFill>
                          <a:effectLst/>
                          <a:latin typeface="Asap Semi-Bold" panose="020B0604020202020204" charset="0"/>
                        </a:rPr>
                        <a:t>Front-end</a:t>
                      </a:r>
                      <a:endParaRPr lang="vi-VN" sz="2400">
                        <a:effectLst/>
                        <a:latin typeface="Asap Semi-Bold" panose="020B0604020202020204" charset="0"/>
                      </a:endParaRPr>
                    </a:p>
                  </a:txBody>
                  <a:tcPr marL="114300" marR="114300" marT="95250" marB="9525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750"/>
                        </a:spcBef>
                        <a:spcAft>
                          <a:spcPts val="750"/>
                        </a:spcAft>
                      </a:pPr>
                      <a:r>
                        <a:rPr lang="vi-VN" sz="2400" b="0" i="0" u="none" strike="noStrike">
                          <a:solidFill>
                            <a:srgbClr val="333333"/>
                          </a:solidFill>
                          <a:effectLst/>
                          <a:latin typeface="Asap Semi-Bold" panose="020B0604020202020204" charset="0"/>
                        </a:rPr>
                        <a:t>Flutter Framework (Dart) &amp; VS Code</a:t>
                      </a:r>
                      <a:endParaRPr lang="vi-VN" sz="2400">
                        <a:effectLst/>
                        <a:latin typeface="Asap Semi-Bold" panose="020B0604020202020204" charset="0"/>
                      </a:endParaRPr>
                    </a:p>
                  </a:txBody>
                  <a:tcPr marL="114300" marR="114300" marT="95250" marB="9525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750"/>
                        </a:spcBef>
                        <a:spcAft>
                          <a:spcPts val="750"/>
                        </a:spcAft>
                      </a:pPr>
                      <a:r>
                        <a:rPr lang="vi-VN" sz="2400" b="0" i="0" u="none" strike="noStrike">
                          <a:solidFill>
                            <a:srgbClr val="333333"/>
                          </a:solidFill>
                          <a:effectLst/>
                          <a:latin typeface="Asap Semi-Bold" panose="020B0604020202020204" charset="0"/>
                        </a:rPr>
                        <a:t>Phát triển ứng dụng đa nền tảng (Android/iOS) với hiệu năng cao, giao diện tối ưu.</a:t>
                      </a:r>
                      <a:endParaRPr lang="vi-VN" sz="2400">
                        <a:effectLst/>
                        <a:latin typeface="Asap Semi-Bold" panose="020B0604020202020204" charset="0"/>
                      </a:endParaRPr>
                    </a:p>
                  </a:txBody>
                  <a:tcPr marL="114300" marR="114300" marT="95250" marB="9525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0193526"/>
                  </a:ext>
                </a:extLst>
              </a:tr>
              <a:tr h="1852852">
                <a:tc>
                  <a:txBody>
                    <a:bodyPr/>
                    <a:lstStyle/>
                    <a:p>
                      <a:pPr rtl="0" fontAlgn="t">
                        <a:spcBef>
                          <a:spcPts val="750"/>
                        </a:spcBef>
                        <a:spcAft>
                          <a:spcPts val="750"/>
                        </a:spcAft>
                      </a:pPr>
                      <a:r>
                        <a:rPr lang="vi-VN" sz="2400" b="1" i="0" u="none" strike="noStrike">
                          <a:solidFill>
                            <a:srgbClr val="333333"/>
                          </a:solidFill>
                          <a:effectLst/>
                          <a:latin typeface="Asap Semi-Bold" panose="020B0604020202020204" charset="0"/>
                        </a:rPr>
                        <a:t>Back-end &amp; CSDL</a:t>
                      </a:r>
                      <a:endParaRPr lang="vi-VN" sz="2400">
                        <a:effectLst/>
                        <a:latin typeface="Asap Semi-Bold" panose="020B0604020202020204" charset="0"/>
                      </a:endParaRPr>
                    </a:p>
                  </a:txBody>
                  <a:tcPr marL="114300" marR="114300" marT="95250" marB="9525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750"/>
                        </a:spcBef>
                        <a:spcAft>
                          <a:spcPts val="750"/>
                        </a:spcAft>
                      </a:pPr>
                      <a:r>
                        <a:rPr lang="vi-VN" sz="2400" b="0" i="0" u="none" strike="noStrike">
                          <a:solidFill>
                            <a:srgbClr val="333333"/>
                          </a:solidFill>
                          <a:effectLst/>
                          <a:latin typeface="Asap Semi-Bold" panose="020B0604020202020204" charset="0"/>
                        </a:rPr>
                        <a:t>Firebase (Firebase Auth, Cloud Firestore)</a:t>
                      </a:r>
                      <a:endParaRPr lang="vi-VN" sz="2400">
                        <a:effectLst/>
                        <a:latin typeface="Asap Semi-Bold" panose="020B0604020202020204" charset="0"/>
                      </a:endParaRPr>
                    </a:p>
                  </a:txBody>
                  <a:tcPr marL="114300" marR="114300" marT="95250" marB="9525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750"/>
                        </a:spcBef>
                        <a:spcAft>
                          <a:spcPts val="750"/>
                        </a:spcAft>
                      </a:pPr>
                      <a:r>
                        <a:rPr lang="vi-VN" sz="2400" b="0" i="0" u="none" strike="noStrike">
                          <a:solidFill>
                            <a:srgbClr val="333333"/>
                          </a:solidFill>
                          <a:effectLst/>
                          <a:latin typeface="Asap Semi-Bold" panose="020B0604020202020204" charset="0"/>
                        </a:rPr>
                        <a:t>Quản lý xác thực người dùng an toàn và lưu trữ CSDL thời gian thực (Real-time).</a:t>
                      </a:r>
                      <a:endParaRPr lang="vi-VN" sz="2400">
                        <a:effectLst/>
                        <a:latin typeface="Asap Semi-Bold" panose="020B0604020202020204" charset="0"/>
                      </a:endParaRPr>
                    </a:p>
                  </a:txBody>
                  <a:tcPr marL="114300" marR="114300" marT="95250" marB="9525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230777"/>
                  </a:ext>
                </a:extLst>
              </a:tr>
              <a:tr h="1852852">
                <a:tc>
                  <a:txBody>
                    <a:bodyPr/>
                    <a:lstStyle/>
                    <a:p>
                      <a:pPr rtl="0" fontAlgn="t">
                        <a:spcBef>
                          <a:spcPts val="750"/>
                        </a:spcBef>
                        <a:spcAft>
                          <a:spcPts val="750"/>
                        </a:spcAft>
                      </a:pPr>
                      <a:r>
                        <a:rPr lang="vi-VN" sz="2400" b="1" i="0" u="none" strike="noStrike">
                          <a:solidFill>
                            <a:srgbClr val="333333"/>
                          </a:solidFill>
                          <a:effectLst/>
                          <a:latin typeface="Asap Semi-Bold" panose="020B0604020202020204" charset="0"/>
                        </a:rPr>
                        <a:t>Quản lý dự án</a:t>
                      </a:r>
                      <a:endParaRPr lang="vi-VN" sz="2400">
                        <a:effectLst/>
                        <a:latin typeface="Asap Semi-Bold" panose="020B0604020202020204" charset="0"/>
                      </a:endParaRPr>
                    </a:p>
                  </a:txBody>
                  <a:tcPr marL="114300" marR="114300" marT="95250" marB="9525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750"/>
                        </a:spcBef>
                        <a:spcAft>
                          <a:spcPts val="750"/>
                        </a:spcAft>
                      </a:pPr>
                      <a:r>
                        <a:rPr lang="vi-VN" sz="2400" b="0" i="0" u="none" strike="noStrike">
                          <a:solidFill>
                            <a:srgbClr val="333333"/>
                          </a:solidFill>
                          <a:effectLst/>
                          <a:latin typeface="Asap Semi-Bold" panose="020B0604020202020204" charset="0"/>
                        </a:rPr>
                        <a:t>Agile, Git &amp; GitHub</a:t>
                      </a:r>
                      <a:endParaRPr lang="vi-VN" sz="2400">
                        <a:effectLst/>
                        <a:latin typeface="Asap Semi-Bold" panose="020B0604020202020204" charset="0"/>
                      </a:endParaRPr>
                    </a:p>
                  </a:txBody>
                  <a:tcPr marL="114300" marR="114300" marT="95250" marB="9525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750"/>
                        </a:spcBef>
                        <a:spcAft>
                          <a:spcPts val="750"/>
                        </a:spcAft>
                      </a:pPr>
                      <a:r>
                        <a:rPr lang="vi-VN" sz="2400" b="0" i="0" u="none" strike="noStrike">
                          <a:solidFill>
                            <a:srgbClr val="333333"/>
                          </a:solidFill>
                          <a:effectLst/>
                          <a:latin typeface="Asap Semi-Bold" panose="020B0604020202020204" charset="0"/>
                        </a:rPr>
                        <a:t>Quản lý mã nguồn tập trung, phân nhánh độc lập và vận hành dự án linh hoạt.</a:t>
                      </a:r>
                      <a:endParaRPr lang="vi-VN" sz="2400">
                        <a:effectLst/>
                        <a:latin typeface="Asap Semi-Bold" panose="020B0604020202020204" charset="0"/>
                      </a:endParaRPr>
                    </a:p>
                  </a:txBody>
                  <a:tcPr marL="114300" marR="114300" marT="95250" marB="9525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7591297"/>
                  </a:ext>
                </a:extLst>
              </a:tr>
            </a:tbl>
          </a:graphicData>
        </a:graphic>
      </p:graphicFrame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533400" y="3709764"/>
            <a:ext cx="52877726" cy="9838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vi-V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77573" y="181557"/>
            <a:ext cx="17721235" cy="2084817"/>
            <a:chOff x="0" y="0"/>
            <a:chExt cx="23628314" cy="2779755"/>
          </a:xfrm>
        </p:grpSpPr>
        <p:sp>
          <p:nvSpPr>
            <p:cNvPr id="3" name="TextBox 3"/>
            <p:cNvSpPr txBox="1"/>
            <p:nvPr/>
          </p:nvSpPr>
          <p:spPr>
            <a:xfrm>
              <a:off x="0" y="66675"/>
              <a:ext cx="23628314" cy="15406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717"/>
                </a:lnSpc>
                <a:spcBef>
                  <a:spcPct val="0"/>
                </a:spcBef>
              </a:pPr>
              <a:r>
                <a:rPr lang="en-US" sz="7925" b="1">
                  <a:solidFill>
                    <a:srgbClr val="1836B2"/>
                  </a:solidFill>
                  <a:latin typeface="Asap Semi-Bold"/>
                  <a:ea typeface="Asap Semi-Bold"/>
                  <a:cs typeface="Asap Semi-Bold"/>
                  <a:sym typeface="Asap Semi-Bold"/>
                </a:rPr>
                <a:t>PHÂN CÔNG NHIỆM VỤ THEO MODULE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559722"/>
              <a:ext cx="23628314" cy="12200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3607"/>
                </a:lnSpc>
                <a:spcBef>
                  <a:spcPct val="0"/>
                </a:spcBef>
              </a:pPr>
              <a:r>
                <a:rPr lang="en-US" sz="2775" i="1" spc="-55">
                  <a:solidFill>
                    <a:srgbClr val="000000"/>
                  </a:solidFill>
                  <a:latin typeface="Asap Italics"/>
                  <a:ea typeface="Asap Italics"/>
                  <a:cs typeface="Asap Italics"/>
                  <a:sym typeface="Asap Italics"/>
                </a:rPr>
                <a:t>Chia theo Module chức năng. Mỗi thành viên đảm nhận trọn vẹn 3 quy trình: Thiết kế UI/UX → Lập trình Code → Viết Tài liệu Báo cáo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20140" y="2719443"/>
            <a:ext cx="6004733" cy="742712"/>
            <a:chOff x="0" y="0"/>
            <a:chExt cx="8006310" cy="990283"/>
          </a:xfrm>
        </p:grpSpPr>
        <p:grpSp>
          <p:nvGrpSpPr>
            <p:cNvPr id="6" name="Group 6"/>
            <p:cNvGrpSpPr/>
            <p:nvPr/>
          </p:nvGrpSpPr>
          <p:grpSpPr>
            <a:xfrm rot="-10800000">
              <a:off x="0" y="0"/>
              <a:ext cx="8006310" cy="990283"/>
              <a:chOff x="0" y="0"/>
              <a:chExt cx="43432738" cy="53721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3432738" cy="5372100"/>
              </a:xfrm>
              <a:custGeom>
                <a:avLst/>
                <a:gdLst/>
                <a:ahLst/>
                <a:cxnLst/>
                <a:rect l="l" t="t" r="r" b="b"/>
                <a:pathLst>
                  <a:path w="43432738" h="5372100">
                    <a:moveTo>
                      <a:pt x="41882067" y="0"/>
                    </a:moveTo>
                    <a:lnTo>
                      <a:pt x="1550670" y="0"/>
                    </a:lnTo>
                    <a:lnTo>
                      <a:pt x="0" y="2686050"/>
                    </a:lnTo>
                    <a:lnTo>
                      <a:pt x="1550670" y="5372100"/>
                    </a:lnTo>
                    <a:lnTo>
                      <a:pt x="41882067" y="5372100"/>
                    </a:lnTo>
                    <a:lnTo>
                      <a:pt x="43432738" y="2686050"/>
                    </a:lnTo>
                    <a:lnTo>
                      <a:pt x="41882067" y="0"/>
                    </a:lnTo>
                    <a:close/>
                  </a:path>
                </a:pathLst>
              </a:custGeom>
              <a:solidFill>
                <a:srgbClr val="A066CB"/>
              </a:solidFill>
            </p:spPr>
          </p:sp>
        </p:grpSp>
        <p:sp>
          <p:nvSpPr>
            <p:cNvPr id="8" name="TextBox 8"/>
            <p:cNvSpPr txBox="1"/>
            <p:nvPr/>
          </p:nvSpPr>
          <p:spPr>
            <a:xfrm>
              <a:off x="260262" y="204904"/>
              <a:ext cx="7485787" cy="5804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478"/>
                </a:lnSpc>
                <a:spcBef>
                  <a:spcPct val="0"/>
                </a:spcBef>
              </a:pPr>
              <a:r>
                <a:rPr lang="en-US" sz="2898" b="1" spc="86">
                  <a:solidFill>
                    <a:srgbClr val="FFFFFF"/>
                  </a:solidFill>
                  <a:latin typeface="Asap Bold"/>
                  <a:ea typeface="Asap Bold"/>
                  <a:cs typeface="Asap Bold"/>
                  <a:sym typeface="Asap Bold"/>
                </a:rPr>
                <a:t>Tạ Đức Dương (Nhóm Trưởng)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612979" y="3871730"/>
            <a:ext cx="4303306" cy="5091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4348" lvl="1" indent="-267174" algn="l">
              <a:lnSpc>
                <a:spcPts val="3464"/>
              </a:lnSpc>
              <a:buAutoNum type="arabicPeriod"/>
            </a:pPr>
            <a:r>
              <a:rPr lang="en-US" sz="2474" spc="12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Tài khoản, Định tuyến</a:t>
            </a:r>
          </a:p>
          <a:p>
            <a:pPr marL="534348" lvl="1" indent="-267174" algn="l">
              <a:lnSpc>
                <a:spcPts val="3464"/>
              </a:lnSpc>
              <a:buAutoNum type="arabicPeriod"/>
            </a:pPr>
            <a:r>
              <a:rPr lang="en-US" sz="2474" spc="12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Thiết kế UI/UX trên Figma.</a:t>
            </a:r>
          </a:p>
          <a:p>
            <a:pPr marL="534348" lvl="1" indent="-267174" algn="l">
              <a:lnSpc>
                <a:spcPts val="3464"/>
              </a:lnSpc>
              <a:buAutoNum type="arabicPeriod"/>
            </a:pPr>
            <a:r>
              <a:rPr lang="en-US" sz="2474" spc="12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Lập trình luồng Đăng nhập / Đăng ký, Hồ sơ cá nhân, Điều hướng.</a:t>
            </a:r>
          </a:p>
          <a:p>
            <a:pPr marL="534348" lvl="1" indent="-267174" algn="l">
              <a:lnSpc>
                <a:spcPts val="3464"/>
              </a:lnSpc>
              <a:buAutoNum type="arabicPeriod"/>
            </a:pPr>
            <a:r>
              <a:rPr lang="en-US" sz="2474" spc="12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Tích hợp Firebase Auth và khởi tạo Base code.</a:t>
            </a:r>
          </a:p>
          <a:p>
            <a:pPr marL="534348" lvl="1" indent="-267174" algn="l">
              <a:lnSpc>
                <a:spcPts val="3464"/>
              </a:lnSpc>
              <a:buAutoNum type="arabicPeriod"/>
            </a:pPr>
            <a:r>
              <a:rPr lang="en-US" sz="2474" spc="12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Phác thảo sơ đồ Use-case tổng quan.</a:t>
            </a:r>
          </a:p>
          <a:p>
            <a:pPr marL="534348" lvl="1" indent="-267174" algn="l">
              <a:lnSpc>
                <a:spcPts val="3464"/>
              </a:lnSpc>
              <a:buAutoNum type="arabicPeriod"/>
            </a:pPr>
            <a:r>
              <a:rPr lang="en-US" sz="2474" spc="12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Viết đặc tả yêu cầu hệ thống.</a:t>
            </a:r>
          </a:p>
          <a:p>
            <a:pPr marL="340042" lvl="1" indent="-170021" algn="l">
              <a:lnSpc>
                <a:spcPts val="2204"/>
              </a:lnSpc>
              <a:spcBef>
                <a:spcPct val="0"/>
              </a:spcBef>
              <a:buFont typeface="Arial"/>
              <a:buChar char="•"/>
            </a:pPr>
            <a:endParaRPr lang="en-US" sz="2474" spc="12">
              <a:solidFill>
                <a:srgbClr val="000000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6861981" y="3871730"/>
            <a:ext cx="4715110" cy="5242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4348" lvl="1" indent="-267174" algn="l">
              <a:lnSpc>
                <a:spcPts val="3464"/>
              </a:lnSpc>
              <a:buAutoNum type="arabicPeriod"/>
            </a:pPr>
            <a:r>
              <a:rPr lang="en-US" sz="2474" spc="12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Theo dõi Chỉ số, Dinh dưỡng</a:t>
            </a:r>
          </a:p>
          <a:p>
            <a:pPr marL="534348" lvl="1" indent="-267174" algn="l">
              <a:lnSpc>
                <a:spcPts val="3464"/>
              </a:lnSpc>
              <a:buAutoNum type="arabicPeriod"/>
            </a:pPr>
            <a:r>
              <a:rPr lang="en-US" sz="2474" spc="12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Lập trình form nhập liệu calo và lượng nước.</a:t>
            </a:r>
          </a:p>
          <a:p>
            <a:pPr marL="534348" lvl="1" indent="-267174" algn="l">
              <a:lnSpc>
                <a:spcPts val="3464"/>
              </a:lnSpc>
              <a:buAutoNum type="arabicPeriod"/>
            </a:pPr>
            <a:r>
              <a:rPr lang="en-US" sz="2474" spc="12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Cài đặt thuật toán tính toán chỉ số BMI.</a:t>
            </a:r>
          </a:p>
          <a:p>
            <a:pPr marL="534348" lvl="1" indent="-267174" algn="l">
              <a:lnSpc>
                <a:spcPts val="3464"/>
              </a:lnSpc>
              <a:buAutoNum type="arabicPeriod"/>
            </a:pPr>
            <a:r>
              <a:rPr lang="en-US" sz="2474" spc="12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Thiết kế cấu trúc bảng (Collections) trên Cloud Firestore lưu lịch sử ăn uống.</a:t>
            </a:r>
          </a:p>
          <a:p>
            <a:pPr marL="534348" lvl="1" indent="-267174" algn="l">
              <a:lnSpc>
                <a:spcPts val="3464"/>
              </a:lnSpc>
              <a:buAutoNum type="arabicPeriod"/>
            </a:pPr>
            <a:r>
              <a:rPr lang="en-US" sz="2474" spc="12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Thiết kế Lược đồ Cơ sở dữ liệu (Database Schema).</a:t>
            </a:r>
          </a:p>
          <a:p>
            <a:pPr marL="534348" lvl="1" indent="-267174" algn="l">
              <a:lnSpc>
                <a:spcPts val="3464"/>
              </a:lnSpc>
              <a:buAutoNum type="arabicPeriod"/>
            </a:pPr>
            <a:r>
              <a:rPr lang="en-US" sz="2474" spc="12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Lập tài liệu mô tả các công thức tính toán sức khỏe.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6766609" y="2721508"/>
            <a:ext cx="5713192" cy="742712"/>
            <a:chOff x="0" y="0"/>
            <a:chExt cx="7617589" cy="990283"/>
          </a:xfrm>
        </p:grpSpPr>
        <p:grpSp>
          <p:nvGrpSpPr>
            <p:cNvPr id="12" name="Group 12"/>
            <p:cNvGrpSpPr/>
            <p:nvPr/>
          </p:nvGrpSpPr>
          <p:grpSpPr>
            <a:xfrm rot="-10800000">
              <a:off x="0" y="0"/>
              <a:ext cx="7617589" cy="990283"/>
              <a:chOff x="0" y="0"/>
              <a:chExt cx="41323999" cy="53721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41323999" cy="5372100"/>
              </a:xfrm>
              <a:custGeom>
                <a:avLst/>
                <a:gdLst/>
                <a:ahLst/>
                <a:cxnLst/>
                <a:rect l="l" t="t" r="r" b="b"/>
                <a:pathLst>
                  <a:path w="41323999" h="5372100">
                    <a:moveTo>
                      <a:pt x="39773330" y="0"/>
                    </a:moveTo>
                    <a:lnTo>
                      <a:pt x="1550670" y="0"/>
                    </a:lnTo>
                    <a:lnTo>
                      <a:pt x="0" y="2686050"/>
                    </a:lnTo>
                    <a:lnTo>
                      <a:pt x="1550670" y="5372100"/>
                    </a:lnTo>
                    <a:lnTo>
                      <a:pt x="39773330" y="5372100"/>
                    </a:lnTo>
                    <a:lnTo>
                      <a:pt x="41323999" y="2686050"/>
                    </a:lnTo>
                    <a:lnTo>
                      <a:pt x="39773330" y="0"/>
                    </a:lnTo>
                    <a:close/>
                  </a:path>
                </a:pathLst>
              </a:custGeom>
              <a:solidFill>
                <a:srgbClr val="A066CB"/>
              </a:solidFill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247625" y="204904"/>
              <a:ext cx="7122339" cy="5804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478"/>
                </a:lnSpc>
                <a:spcBef>
                  <a:spcPct val="0"/>
                </a:spcBef>
              </a:pPr>
              <a:r>
                <a:rPr lang="en-US" sz="2898" b="1" spc="86">
                  <a:solidFill>
                    <a:srgbClr val="FFFFFF"/>
                  </a:solidFill>
                  <a:latin typeface="Asap Bold"/>
                  <a:ea typeface="Asap Bold"/>
                  <a:cs typeface="Asap Bold"/>
                  <a:sym typeface="Asap Bold"/>
                </a:rPr>
                <a:t>Lê Thị Quỳnh Trang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783051" y="2721508"/>
            <a:ext cx="5504949" cy="742712"/>
            <a:chOff x="0" y="0"/>
            <a:chExt cx="7339932" cy="990283"/>
          </a:xfrm>
        </p:grpSpPr>
        <p:grpSp>
          <p:nvGrpSpPr>
            <p:cNvPr id="16" name="Group 16"/>
            <p:cNvGrpSpPr/>
            <p:nvPr/>
          </p:nvGrpSpPr>
          <p:grpSpPr>
            <a:xfrm rot="-10800000">
              <a:off x="0" y="0"/>
              <a:ext cx="7339932" cy="990283"/>
              <a:chOff x="0" y="0"/>
              <a:chExt cx="39817757" cy="53721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39817759" cy="5372100"/>
              </a:xfrm>
              <a:custGeom>
                <a:avLst/>
                <a:gdLst/>
                <a:ahLst/>
                <a:cxnLst/>
                <a:rect l="l" t="t" r="r" b="b"/>
                <a:pathLst>
                  <a:path w="39817759" h="5372100">
                    <a:moveTo>
                      <a:pt x="38267087" y="0"/>
                    </a:moveTo>
                    <a:lnTo>
                      <a:pt x="1550670" y="0"/>
                    </a:lnTo>
                    <a:lnTo>
                      <a:pt x="0" y="2686050"/>
                    </a:lnTo>
                    <a:lnTo>
                      <a:pt x="1550670" y="5372100"/>
                    </a:lnTo>
                    <a:lnTo>
                      <a:pt x="38267087" y="5372100"/>
                    </a:lnTo>
                    <a:lnTo>
                      <a:pt x="39817759" y="2686050"/>
                    </a:lnTo>
                    <a:lnTo>
                      <a:pt x="38267087" y="0"/>
                    </a:lnTo>
                    <a:close/>
                  </a:path>
                </a:pathLst>
              </a:custGeom>
              <a:solidFill>
                <a:srgbClr val="A066CB"/>
              </a:solidFill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238600" y="204904"/>
              <a:ext cx="6862732" cy="5804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478"/>
                </a:lnSpc>
                <a:spcBef>
                  <a:spcPct val="0"/>
                </a:spcBef>
              </a:pPr>
              <a:r>
                <a:rPr lang="en-US" sz="2898" b="1" spc="86">
                  <a:solidFill>
                    <a:srgbClr val="FFFFFF"/>
                  </a:solidFill>
                  <a:latin typeface="Asap Bold"/>
                  <a:ea typeface="Asap Bold"/>
                  <a:cs typeface="Asap Bold"/>
                  <a:sym typeface="Asap Bold"/>
                </a:rPr>
                <a:t>Nguyễn Thị Trinh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3383873" y="3873795"/>
            <a:ext cx="4303306" cy="5680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4348" lvl="1" indent="-267174" algn="l">
              <a:lnSpc>
                <a:spcPts val="3464"/>
              </a:lnSpc>
              <a:buAutoNum type="arabicPeriod"/>
            </a:pPr>
            <a:r>
              <a:rPr lang="en-US" sz="2474" spc="12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Thống kê, Nhắc nhở</a:t>
            </a:r>
          </a:p>
          <a:p>
            <a:pPr marL="534348" lvl="1" indent="-267174" algn="l">
              <a:lnSpc>
                <a:spcPts val="3464"/>
              </a:lnSpc>
              <a:buAutoNum type="arabicPeriod"/>
            </a:pPr>
            <a:r>
              <a:rPr lang="en-US" sz="2474" spc="12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Lập trình màn hình Thống kê và biểu đồ (Chart) cân nặng/calo.</a:t>
            </a:r>
          </a:p>
          <a:p>
            <a:pPr marL="534348" lvl="1" indent="-267174" algn="l">
              <a:lnSpc>
                <a:spcPts val="3464"/>
              </a:lnSpc>
              <a:buAutoNum type="arabicPeriod"/>
            </a:pPr>
            <a:r>
              <a:rPr lang="en-US" sz="2474" spc="12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Xây dựng tính năng Push Notification nhắc nhở (uống nước, uống thuốc, tập luyện).</a:t>
            </a:r>
          </a:p>
          <a:p>
            <a:pPr marL="534348" lvl="1" indent="-267174" algn="l">
              <a:lnSpc>
                <a:spcPts val="3464"/>
              </a:lnSpc>
              <a:buAutoNum type="arabicPeriod"/>
            </a:pPr>
            <a:r>
              <a:rPr lang="en-US" sz="2474" spc="12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Xây dựng kịch bản kiểm thử (Test cases).</a:t>
            </a:r>
          </a:p>
          <a:p>
            <a:pPr marL="534348" lvl="1" indent="-267174" algn="l">
              <a:lnSpc>
                <a:spcPts val="3464"/>
              </a:lnSpc>
              <a:buAutoNum type="arabicPeriod"/>
            </a:pPr>
            <a:r>
              <a:rPr lang="en-US" sz="2474" spc="12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Rà soát mã nguồn (QA) và tổng hợp tài liệu báo cáo hoàn chỉnh.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2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704608" y="-770501"/>
            <a:ext cx="17211375" cy="13842185"/>
            <a:chOff x="0" y="0"/>
            <a:chExt cx="6679670" cy="53721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79670" cy="5372100"/>
            </a:xfrm>
            <a:custGeom>
              <a:avLst/>
              <a:gdLst/>
              <a:ahLst/>
              <a:cxnLst/>
              <a:rect l="l" t="t" r="r" b="b"/>
              <a:pathLst>
                <a:path w="6679670" h="5372100">
                  <a:moveTo>
                    <a:pt x="5129000" y="0"/>
                  </a:moveTo>
                  <a:lnTo>
                    <a:pt x="1550670" y="0"/>
                  </a:lnTo>
                  <a:lnTo>
                    <a:pt x="0" y="2686050"/>
                  </a:lnTo>
                  <a:lnTo>
                    <a:pt x="1550670" y="5372100"/>
                  </a:lnTo>
                  <a:lnTo>
                    <a:pt x="5129000" y="5372100"/>
                  </a:lnTo>
                  <a:lnTo>
                    <a:pt x="6679670" y="2686050"/>
                  </a:lnTo>
                  <a:lnTo>
                    <a:pt x="5129000" y="0"/>
                  </a:lnTo>
                  <a:close/>
                </a:path>
              </a:pathLst>
            </a:custGeom>
            <a:solidFill>
              <a:srgbClr val="A066CB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9273883" y="3336871"/>
            <a:ext cx="8612281" cy="62458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 b="1" spc="-48">
                <a:solidFill>
                  <a:srgbClr val="FFFFFF"/>
                </a:solidFill>
                <a:latin typeface="Asap Bold"/>
                <a:ea typeface="Asap Bold"/>
                <a:cs typeface="Asap Bold"/>
                <a:sym typeface="Asap Bold"/>
              </a:rPr>
              <a:t>Giai đoạn 1: Khởi tạo</a:t>
            </a:r>
          </a:p>
          <a:p>
            <a:pPr algn="l">
              <a:lnSpc>
                <a:spcPts val="3120"/>
              </a:lnSpc>
            </a:pPr>
            <a:r>
              <a:rPr lang="en-US" sz="2400" spc="-48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Tuần 1 - Tuần 2</a:t>
            </a:r>
          </a:p>
          <a:p>
            <a:pPr algn="l">
              <a:lnSpc>
                <a:spcPts val="3120"/>
              </a:lnSpc>
            </a:pPr>
            <a:r>
              <a:rPr lang="en-US" sz="2400" spc="-48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Chốt đề tài, phân tích hệ thống, hoàn thiện thiết kế CSDL và UI/UX trên Figma.</a:t>
            </a:r>
          </a:p>
          <a:p>
            <a:pPr algn="l">
              <a:lnSpc>
                <a:spcPts val="3120"/>
              </a:lnSpc>
            </a:pPr>
            <a:r>
              <a:rPr lang="en-US" sz="2400" b="1" spc="-48">
                <a:solidFill>
                  <a:srgbClr val="FFFFFF"/>
                </a:solidFill>
                <a:latin typeface="Asap Bold"/>
                <a:ea typeface="Asap Bold"/>
                <a:cs typeface="Asap Bold"/>
                <a:sym typeface="Asap Bold"/>
              </a:rPr>
              <a:t>Giai đoạn 2: Phát triển cốt lõi</a:t>
            </a:r>
          </a:p>
          <a:p>
            <a:pPr algn="l">
              <a:lnSpc>
                <a:spcPts val="3120"/>
              </a:lnSpc>
            </a:pPr>
            <a:r>
              <a:rPr lang="en-US" sz="2400" spc="-48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Tuần 3 - Tuần 6</a:t>
            </a:r>
          </a:p>
          <a:p>
            <a:pPr algn="l">
              <a:lnSpc>
                <a:spcPts val="3120"/>
              </a:lnSpc>
            </a:pPr>
            <a:r>
              <a:rPr lang="en-US" sz="2400" spc="-48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Cấu hình môi trường Flutter, kết nối Firebase, hoàn thiện Xác thực người dùng &amp; Nhập liệu dinh dưỡng/BMI.</a:t>
            </a:r>
          </a:p>
          <a:p>
            <a:pPr algn="l">
              <a:lnSpc>
                <a:spcPts val="3120"/>
              </a:lnSpc>
            </a:pPr>
            <a:r>
              <a:rPr lang="en-US" sz="2400" b="1" spc="-48">
                <a:solidFill>
                  <a:srgbClr val="FFFFFF"/>
                </a:solidFill>
                <a:latin typeface="Asap Bold"/>
                <a:ea typeface="Asap Bold"/>
                <a:cs typeface="Asap Bold"/>
                <a:sym typeface="Asap Bold"/>
              </a:rPr>
              <a:t>Giai đoạn 3: Tính năng mở rộng</a:t>
            </a:r>
          </a:p>
          <a:p>
            <a:pPr algn="l">
              <a:lnSpc>
                <a:spcPts val="3120"/>
              </a:lnSpc>
            </a:pPr>
            <a:r>
              <a:rPr lang="en-US" sz="2400" spc="-48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Tuần 7 - Tuần 8</a:t>
            </a:r>
          </a:p>
          <a:p>
            <a:pPr algn="l">
              <a:lnSpc>
                <a:spcPts val="3120"/>
              </a:lnSpc>
            </a:pPr>
            <a:r>
              <a:rPr lang="en-US" sz="2400" spc="-48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Xây dựng biểu đồ thống kê, tích hợp thông báo đẩy (Push Notification), hoàn thiện các màn hình phụ.</a:t>
            </a:r>
          </a:p>
          <a:p>
            <a:pPr algn="l">
              <a:lnSpc>
                <a:spcPts val="3120"/>
              </a:lnSpc>
            </a:pPr>
            <a:r>
              <a:rPr lang="en-US" sz="2400" b="1" spc="-48">
                <a:solidFill>
                  <a:srgbClr val="FFFFFF"/>
                </a:solidFill>
                <a:latin typeface="Asap Bold"/>
                <a:ea typeface="Asap Bold"/>
                <a:cs typeface="Asap Bold"/>
                <a:sym typeface="Asap Bold"/>
              </a:rPr>
              <a:t>Giai đoạn 4: Hoàn thiện &amp; Nghiệm thu</a:t>
            </a:r>
          </a:p>
          <a:p>
            <a:pPr algn="l">
              <a:lnSpc>
                <a:spcPts val="3120"/>
              </a:lnSpc>
            </a:pPr>
            <a:r>
              <a:rPr lang="en-US" sz="2400" spc="-48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Tuần 9 - Tuần 10</a:t>
            </a:r>
          </a:p>
          <a:p>
            <a:pPr algn="l">
              <a:lnSpc>
                <a:spcPts val="3120"/>
              </a:lnSpc>
            </a:pPr>
            <a:r>
              <a:rPr lang="en-US" sz="2400" spc="-48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Kiểm thử toàn hệ thống, fix bug, xuất file APK, soạn Slide và hoàn tất báo cáo tổng kết.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9014117" y="1425387"/>
            <a:ext cx="9273883" cy="1701967"/>
            <a:chOff x="0" y="0"/>
            <a:chExt cx="12365178" cy="2269289"/>
          </a:xfrm>
        </p:grpSpPr>
        <p:grpSp>
          <p:nvGrpSpPr>
            <p:cNvPr id="6" name="Group 6"/>
            <p:cNvGrpSpPr/>
            <p:nvPr/>
          </p:nvGrpSpPr>
          <p:grpSpPr>
            <a:xfrm rot="-10800000">
              <a:off x="0" y="0"/>
              <a:ext cx="12365178" cy="2269289"/>
              <a:chOff x="0" y="0"/>
              <a:chExt cx="29272148" cy="53721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9272148" cy="5372100"/>
              </a:xfrm>
              <a:custGeom>
                <a:avLst/>
                <a:gdLst/>
                <a:ahLst/>
                <a:cxnLst/>
                <a:rect l="l" t="t" r="r" b="b"/>
                <a:pathLst>
                  <a:path w="29272148" h="5372100">
                    <a:moveTo>
                      <a:pt x="27721477" y="0"/>
                    </a:moveTo>
                    <a:lnTo>
                      <a:pt x="1550670" y="0"/>
                    </a:lnTo>
                    <a:lnTo>
                      <a:pt x="0" y="2686050"/>
                    </a:lnTo>
                    <a:lnTo>
                      <a:pt x="1550670" y="5372100"/>
                    </a:lnTo>
                    <a:lnTo>
                      <a:pt x="27721477" y="5372100"/>
                    </a:lnTo>
                    <a:lnTo>
                      <a:pt x="29272148" y="2686050"/>
                    </a:lnTo>
                    <a:lnTo>
                      <a:pt x="27721477" y="0"/>
                    </a:lnTo>
                    <a:close/>
                  </a:path>
                </a:pathLst>
              </a:custGeom>
              <a:solidFill>
                <a:srgbClr val="1836B2"/>
              </a:solidFill>
            </p:spPr>
          </p:sp>
        </p:grpSp>
        <p:sp>
          <p:nvSpPr>
            <p:cNvPr id="8" name="TextBox 8"/>
            <p:cNvSpPr txBox="1"/>
            <p:nvPr/>
          </p:nvSpPr>
          <p:spPr>
            <a:xfrm>
              <a:off x="746274" y="193474"/>
              <a:ext cx="10832273" cy="19109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527"/>
                </a:lnSpc>
                <a:spcBef>
                  <a:spcPct val="0"/>
                </a:spcBef>
              </a:pPr>
              <a:r>
                <a:rPr lang="en-US" sz="5025" b="1">
                  <a:solidFill>
                    <a:srgbClr val="FFFFFF"/>
                  </a:solidFill>
                  <a:latin typeface="Asap Semi-Bold"/>
                  <a:ea typeface="Asap Semi-Bold"/>
                  <a:cs typeface="Asap Semi-Bold"/>
                  <a:sym typeface="Asap Semi-Bold"/>
                </a:rPr>
                <a:t>Mốc Thời gian làm việc tổng quan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 rot="-10800000">
            <a:off x="182482" y="574404"/>
            <a:ext cx="9273883" cy="1701967"/>
            <a:chOff x="0" y="0"/>
            <a:chExt cx="29272148" cy="53721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9272148" cy="5372100"/>
            </a:xfrm>
            <a:custGeom>
              <a:avLst/>
              <a:gdLst/>
              <a:ahLst/>
              <a:cxnLst/>
              <a:rect l="l" t="t" r="r" b="b"/>
              <a:pathLst>
                <a:path w="29272148" h="5372100">
                  <a:moveTo>
                    <a:pt x="27721477" y="0"/>
                  </a:moveTo>
                  <a:lnTo>
                    <a:pt x="1550670" y="0"/>
                  </a:lnTo>
                  <a:lnTo>
                    <a:pt x="0" y="2686050"/>
                  </a:lnTo>
                  <a:lnTo>
                    <a:pt x="1550670" y="5372100"/>
                  </a:lnTo>
                  <a:lnTo>
                    <a:pt x="27721477" y="5372100"/>
                  </a:lnTo>
                  <a:lnTo>
                    <a:pt x="29272148" y="2686050"/>
                  </a:lnTo>
                  <a:lnTo>
                    <a:pt x="27721477" y="0"/>
                  </a:lnTo>
                  <a:close/>
                </a:path>
              </a:pathLst>
            </a:custGeom>
            <a:solidFill>
              <a:srgbClr val="1836B2"/>
            </a:solidFill>
          </p:spPr>
        </p:sp>
      </p:grpSp>
      <p:sp>
        <p:nvSpPr>
          <p:cNvPr id="11" name="TextBox 11"/>
          <p:cNvSpPr txBox="1"/>
          <p:nvPr/>
        </p:nvSpPr>
        <p:spPr>
          <a:xfrm>
            <a:off x="0" y="722225"/>
            <a:ext cx="9273883" cy="1070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22"/>
              </a:lnSpc>
              <a:spcBef>
                <a:spcPct val="0"/>
              </a:spcBef>
            </a:pPr>
            <a:r>
              <a:rPr lang="en-US" sz="6230" b="1">
                <a:solidFill>
                  <a:srgbClr val="FFFFFF"/>
                </a:solidFill>
                <a:latin typeface="Asap Bold"/>
                <a:ea typeface="Asap Bold"/>
                <a:cs typeface="Asap Bold"/>
                <a:sym typeface="Asap Bold"/>
              </a:rPr>
              <a:t>Quy Trình Hàng Tuần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82482" y="2467263"/>
            <a:ext cx="6717266" cy="5890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59" lvl="1" indent="-269880" algn="l">
              <a:lnSpc>
                <a:spcPts val="3250"/>
              </a:lnSpc>
              <a:buAutoNum type="arabicPeriod"/>
            </a:pPr>
            <a:r>
              <a:rPr lang="en-US" sz="2500" spc="-50">
                <a:solidFill>
                  <a:srgbClr val="000000"/>
                </a:solidFill>
                <a:latin typeface="Asap Medium"/>
                <a:ea typeface="Asap Medium"/>
                <a:cs typeface="Asap Medium"/>
                <a:sym typeface="Asap Medium"/>
              </a:rPr>
              <a:t>Thứ Sáu (Kiểm tra &amp; Push code): Các thành viên kiểm tra mã nguồn cá nhân, tiến hành Commit/Push code lên branch tương ứng trên GitHub.</a:t>
            </a:r>
          </a:p>
          <a:p>
            <a:pPr marL="539759" lvl="1" indent="-269880" algn="l">
              <a:lnSpc>
                <a:spcPts val="3250"/>
              </a:lnSpc>
              <a:buAutoNum type="arabicPeriod"/>
            </a:pPr>
            <a:r>
              <a:rPr lang="en-US" sz="2500" spc="-50">
                <a:solidFill>
                  <a:srgbClr val="000000"/>
                </a:solidFill>
                <a:latin typeface="Asap Medium"/>
                <a:ea typeface="Asap Medium"/>
                <a:cs typeface="Asap Medium"/>
                <a:sym typeface="Asap Medium"/>
              </a:rPr>
              <a:t>Tối Thứ Bảy (Họp nhóm &amp; Merge code): Tổ chức họp trực tuyến (Google Meet/Zalo) review chéo mã nguồn, Nhóm trưởng tiến hành Merge code và phân chia công việc tuần mới.</a:t>
            </a:r>
          </a:p>
          <a:p>
            <a:pPr marL="539759" lvl="1" indent="-269880" algn="l">
              <a:lnSpc>
                <a:spcPts val="3250"/>
              </a:lnSpc>
              <a:buAutoNum type="arabicPeriod"/>
            </a:pPr>
            <a:r>
              <a:rPr lang="en-US" sz="2500" spc="-50">
                <a:solidFill>
                  <a:srgbClr val="000000"/>
                </a:solidFill>
                <a:latin typeface="Asap Medium"/>
                <a:ea typeface="Asap Medium"/>
                <a:cs typeface="Asap Medium"/>
                <a:sym typeface="Asap Medium"/>
              </a:rPr>
              <a:t>Chủ Nhật (Tổng hợp &amp; Nộp báo cáo): Nộp báo cáo tiến độ cá nhân, thành viên phụ trách tổng hợp xuất file báo cáo chính thức nộp Giảng viên.</a:t>
            </a:r>
          </a:p>
          <a:p>
            <a:pPr marL="0" lvl="0" indent="0" algn="l">
              <a:lnSpc>
                <a:spcPts val="3250"/>
              </a:lnSpc>
              <a:spcBef>
                <a:spcPct val="0"/>
              </a:spcBef>
            </a:pPr>
            <a:endParaRPr lang="en-US" sz="2500" b="1" spc="-50">
              <a:solidFill>
                <a:srgbClr val="000000"/>
              </a:solidFill>
              <a:latin typeface="Asap Medium"/>
              <a:ea typeface="Asap Medium"/>
              <a:cs typeface="Asap Medium"/>
              <a:sym typeface="Asap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929054" y="1608940"/>
            <a:ext cx="5756151" cy="468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05"/>
              </a:lnSpc>
              <a:spcBef>
                <a:spcPct val="0"/>
              </a:spcBef>
            </a:pPr>
            <a:r>
              <a:rPr lang="en-US" sz="2850" b="1" spc="-57">
                <a:solidFill>
                  <a:srgbClr val="000000"/>
                </a:solidFill>
                <a:latin typeface="Asap Medium"/>
                <a:ea typeface="Asap Medium"/>
                <a:cs typeface="Asap Medium"/>
                <a:sym typeface="Asap Medium"/>
              </a:rPr>
              <a:t>Kế</a:t>
            </a:r>
            <a:r>
              <a:rPr lang="en-US" sz="2850" b="1" u="none" spc="-57">
                <a:solidFill>
                  <a:srgbClr val="000000"/>
                </a:solidFill>
                <a:latin typeface="Asap Medium"/>
                <a:ea typeface="Asap Medium"/>
                <a:cs typeface="Asap Medium"/>
                <a:sym typeface="Asap Medium"/>
              </a:rPr>
              <a:t>t quả đạt được trong Tuần 1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025421" y="2421536"/>
            <a:ext cx="8025976" cy="2971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6" lvl="1" indent="-323853" algn="l">
              <a:lnSpc>
                <a:spcPts val="39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-6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Thống nhất đề tà</a:t>
            </a:r>
            <a:r>
              <a:rPr lang="en-US" sz="3000" u="none" spc="-6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i và xây dựng hoàn chỉnh bản thảo mô tả đề tài, phương án kỹ thuật.</a:t>
            </a:r>
          </a:p>
          <a:p>
            <a:pPr marL="647706" lvl="1" indent="-323853" algn="l">
              <a:lnSpc>
                <a:spcPts val="39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u="none" spc="-6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Phân công chi tiết vai trò, nhiệm vụ chuyên môn cho từng thành viên.</a:t>
            </a:r>
          </a:p>
          <a:p>
            <a:pPr marL="647706" lvl="1" indent="-323853" algn="l">
              <a:lnSpc>
                <a:spcPts val="39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u="none" spc="-6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Chốt quy trình họp, báo cáo định kỳ và thiết lập Timeline tổng quan 10 tuần.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929054" y="5822257"/>
            <a:ext cx="5982357" cy="495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00"/>
              </a:lnSpc>
              <a:spcBef>
                <a:spcPct val="0"/>
              </a:spcBef>
            </a:pPr>
            <a:r>
              <a:rPr lang="en-US" sz="3000" b="1" spc="-60">
                <a:solidFill>
                  <a:srgbClr val="000000"/>
                </a:solidFill>
                <a:latin typeface="Asap Medium"/>
                <a:ea typeface="Asap Medium"/>
                <a:cs typeface="Asap Medium"/>
                <a:sym typeface="Asap Medium"/>
              </a:rPr>
              <a:t>K</a:t>
            </a:r>
            <a:r>
              <a:rPr lang="en-US" sz="3000" b="1" u="none" spc="-60">
                <a:solidFill>
                  <a:srgbClr val="000000"/>
                </a:solidFill>
                <a:latin typeface="Asap Medium"/>
                <a:ea typeface="Asap Medium"/>
                <a:cs typeface="Asap Medium"/>
                <a:sym typeface="Asap Medium"/>
              </a:rPr>
              <a:t>ế hoạch trọng tâm Tuần 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054065" y="6660382"/>
            <a:ext cx="7506129" cy="3466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6" lvl="1" indent="-323853" algn="l">
              <a:lnSpc>
                <a:spcPts val="39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-6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Hoàn th</a:t>
            </a:r>
            <a:r>
              <a:rPr lang="en-US" sz="3000" u="none" spc="-6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iện sơ đồ Use-case và Lược đồ CSDL (Database Schema).</a:t>
            </a:r>
          </a:p>
          <a:p>
            <a:pPr marL="647706" lvl="1" indent="-323853" algn="l">
              <a:lnSpc>
                <a:spcPts val="39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u="none" spc="-6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Thiết kế khung giao diện chi tiết (UI/UX) trên Figma.</a:t>
            </a:r>
          </a:p>
          <a:p>
            <a:pPr marL="647706" lvl="1" indent="-323853" algn="l">
              <a:lnSpc>
                <a:spcPts val="39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u="none" spc="-6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Khởi tạo Base code dự án Flutter và cấu hình kết nối Firebase.</a:t>
            </a:r>
          </a:p>
          <a:p>
            <a:pPr marL="0" lvl="0" indent="0" algn="l">
              <a:lnSpc>
                <a:spcPts val="3900"/>
              </a:lnSpc>
              <a:spcBef>
                <a:spcPct val="0"/>
              </a:spcBef>
            </a:pPr>
            <a:endParaRPr lang="en-US" sz="3000" u="none" spc="-60">
              <a:solidFill>
                <a:srgbClr val="000000"/>
              </a:solidFill>
              <a:latin typeface="Asap"/>
              <a:ea typeface="Asap"/>
              <a:cs typeface="Asap"/>
              <a:sym typeface="Asap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-4584065" y="-2006328"/>
            <a:ext cx="13728065" cy="14299655"/>
            <a:chOff x="0" y="0"/>
            <a:chExt cx="5157365" cy="53721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157365" cy="5372100"/>
            </a:xfrm>
            <a:custGeom>
              <a:avLst/>
              <a:gdLst/>
              <a:ahLst/>
              <a:cxnLst/>
              <a:rect l="l" t="t" r="r" b="b"/>
              <a:pathLst>
                <a:path w="5157365" h="5372100">
                  <a:moveTo>
                    <a:pt x="3606695" y="0"/>
                  </a:moveTo>
                  <a:lnTo>
                    <a:pt x="1550670" y="0"/>
                  </a:lnTo>
                  <a:lnTo>
                    <a:pt x="0" y="2686050"/>
                  </a:lnTo>
                  <a:lnTo>
                    <a:pt x="1550670" y="5372100"/>
                  </a:lnTo>
                  <a:lnTo>
                    <a:pt x="3606695" y="5372100"/>
                  </a:lnTo>
                  <a:lnTo>
                    <a:pt x="5157365" y="2686050"/>
                  </a:lnTo>
                  <a:lnTo>
                    <a:pt x="3606695" y="0"/>
                  </a:lnTo>
                  <a:close/>
                </a:path>
              </a:pathLst>
            </a:custGeom>
            <a:solidFill>
              <a:srgbClr val="1836B2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333189" y="2117661"/>
            <a:ext cx="6503721" cy="6641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540"/>
              </a:lnSpc>
            </a:pPr>
            <a:r>
              <a:rPr lang="en-US" sz="7925" b="1">
                <a:solidFill>
                  <a:srgbClr val="FFFFFF"/>
                </a:solidFill>
                <a:latin typeface="Asap Semi-Bold"/>
                <a:ea typeface="Asap Semi-Bold"/>
                <a:cs typeface="Asap Semi-Bold"/>
                <a:sym typeface="Asap Semi-Bold"/>
              </a:rPr>
              <a:t>KẾT </a:t>
            </a:r>
            <a:r>
              <a:rPr lang="en-US" sz="7925" b="1" u="none">
                <a:solidFill>
                  <a:srgbClr val="FFFFFF"/>
                </a:solidFill>
                <a:latin typeface="Asap Semi-Bold"/>
                <a:ea typeface="Asap Semi-Bold"/>
                <a:cs typeface="Asap Semi-Bold"/>
                <a:sym typeface="Asap Semi-Bold"/>
              </a:rPr>
              <a:t>QUẢ TUẦN 1 VÀ KẾ HOẠCH TUẦN 2</a:t>
            </a:r>
          </a:p>
          <a:p>
            <a:pPr marL="0" lvl="0" indent="0" algn="l">
              <a:lnSpc>
                <a:spcPts val="10540"/>
              </a:lnSpc>
            </a:pPr>
            <a:endParaRPr lang="en-US" sz="7925" b="1" u="none">
              <a:solidFill>
                <a:srgbClr val="FFFFFF"/>
              </a:solidFill>
              <a:latin typeface="Asap Semi-Bold"/>
              <a:ea typeface="Asap Semi-Bold"/>
              <a:cs typeface="Asap Semi-Bold"/>
              <a:sym typeface="Asap Semi-Bold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10025421" y="1506131"/>
            <a:ext cx="714076" cy="618457"/>
            <a:chOff x="0" y="0"/>
            <a:chExt cx="952102" cy="824609"/>
          </a:xfrm>
        </p:grpSpPr>
        <p:grpSp>
          <p:nvGrpSpPr>
            <p:cNvPr id="10" name="Group 10"/>
            <p:cNvGrpSpPr/>
            <p:nvPr/>
          </p:nvGrpSpPr>
          <p:grpSpPr>
            <a:xfrm rot="-10800000">
              <a:off x="0" y="0"/>
              <a:ext cx="952102" cy="824609"/>
              <a:chOff x="0" y="0"/>
              <a:chExt cx="6202680" cy="53721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6202680" cy="5372100"/>
              </a:xfrm>
              <a:custGeom>
                <a:avLst/>
                <a:gdLst/>
                <a:ahLst/>
                <a:cxnLst/>
                <a:rect l="l" t="t" r="r" b="b"/>
                <a:pathLst>
                  <a:path w="6202680" h="5372100">
                    <a:moveTo>
                      <a:pt x="4652010" y="0"/>
                    </a:moveTo>
                    <a:lnTo>
                      <a:pt x="1550670" y="0"/>
                    </a:lnTo>
                    <a:lnTo>
                      <a:pt x="0" y="2686050"/>
                    </a:lnTo>
                    <a:lnTo>
                      <a:pt x="1550670" y="5372100"/>
                    </a:lnTo>
                    <a:lnTo>
                      <a:pt x="4652010" y="5372100"/>
                    </a:lnTo>
                    <a:lnTo>
                      <a:pt x="6202680" y="2686050"/>
                    </a:lnTo>
                    <a:lnTo>
                      <a:pt x="4652010" y="0"/>
                    </a:lnTo>
                    <a:close/>
                  </a:path>
                </a:pathLst>
              </a:custGeom>
              <a:solidFill>
                <a:srgbClr val="A066CB"/>
              </a:solidFill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209517" y="122424"/>
              <a:ext cx="533068" cy="5226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40"/>
                </a:lnSpc>
                <a:spcBef>
                  <a:spcPct val="0"/>
                </a:spcBef>
              </a:pPr>
              <a:r>
                <a:rPr lang="en-US" sz="2314" b="1" spc="-46">
                  <a:solidFill>
                    <a:srgbClr val="FFFFFF"/>
                  </a:solidFill>
                  <a:latin typeface="Asap Medium"/>
                  <a:ea typeface="Asap Medium"/>
                  <a:cs typeface="Asap Medium"/>
                  <a:sym typeface="Asap Medium"/>
                </a:rPr>
                <a:t>01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025421" y="5746650"/>
            <a:ext cx="714076" cy="618457"/>
            <a:chOff x="0" y="0"/>
            <a:chExt cx="952102" cy="824609"/>
          </a:xfrm>
        </p:grpSpPr>
        <p:grpSp>
          <p:nvGrpSpPr>
            <p:cNvPr id="14" name="Group 14"/>
            <p:cNvGrpSpPr/>
            <p:nvPr/>
          </p:nvGrpSpPr>
          <p:grpSpPr>
            <a:xfrm rot="-10800000">
              <a:off x="0" y="0"/>
              <a:ext cx="952102" cy="824609"/>
              <a:chOff x="0" y="0"/>
              <a:chExt cx="6202680" cy="53721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6202680" cy="5372100"/>
              </a:xfrm>
              <a:custGeom>
                <a:avLst/>
                <a:gdLst/>
                <a:ahLst/>
                <a:cxnLst/>
                <a:rect l="l" t="t" r="r" b="b"/>
                <a:pathLst>
                  <a:path w="6202680" h="5372100">
                    <a:moveTo>
                      <a:pt x="4652010" y="0"/>
                    </a:moveTo>
                    <a:lnTo>
                      <a:pt x="1550670" y="0"/>
                    </a:lnTo>
                    <a:lnTo>
                      <a:pt x="0" y="2686050"/>
                    </a:lnTo>
                    <a:lnTo>
                      <a:pt x="1550670" y="5372100"/>
                    </a:lnTo>
                    <a:lnTo>
                      <a:pt x="4652010" y="5372100"/>
                    </a:lnTo>
                    <a:lnTo>
                      <a:pt x="6202680" y="2686050"/>
                    </a:lnTo>
                    <a:lnTo>
                      <a:pt x="4652010" y="0"/>
                    </a:lnTo>
                    <a:close/>
                  </a:path>
                </a:pathLst>
              </a:custGeom>
              <a:solidFill>
                <a:srgbClr val="A066CB"/>
              </a:solidFill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209517" y="122424"/>
              <a:ext cx="533068" cy="5226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40"/>
                </a:lnSpc>
                <a:spcBef>
                  <a:spcPct val="0"/>
                </a:spcBef>
              </a:pPr>
              <a:r>
                <a:rPr lang="en-US" sz="2314" b="1" spc="-46">
                  <a:solidFill>
                    <a:srgbClr val="FFFFFF"/>
                  </a:solidFill>
                  <a:latin typeface="Asap Medium"/>
                  <a:ea typeface="Asap Medium"/>
                  <a:cs typeface="Asap Medium"/>
                  <a:sym typeface="Asap Medium"/>
                </a:rPr>
                <a:t>02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79299" y="9979101"/>
            <a:ext cx="18646597" cy="498399"/>
          </a:xfrm>
          <a:prstGeom prst="rect">
            <a:avLst/>
          </a:prstGeom>
          <a:solidFill>
            <a:srgbClr val="1836B2"/>
          </a:solidFill>
        </p:spPr>
      </p:sp>
      <p:sp>
        <p:nvSpPr>
          <p:cNvPr id="3" name="TextBox 3"/>
          <p:cNvSpPr txBox="1"/>
          <p:nvPr/>
        </p:nvSpPr>
        <p:spPr>
          <a:xfrm>
            <a:off x="1881818" y="2823795"/>
            <a:ext cx="14524365" cy="2231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717"/>
              </a:lnSpc>
              <a:spcBef>
                <a:spcPct val="0"/>
              </a:spcBef>
            </a:pPr>
            <a:r>
              <a:rPr lang="vi-VN" sz="7925" b="1" dirty="0">
                <a:solidFill>
                  <a:srgbClr val="1836B2"/>
                </a:solidFill>
                <a:latin typeface="Asap Semi-Bold"/>
                <a:ea typeface="Asap Semi-Bold"/>
                <a:cs typeface="Asap Semi-Bold"/>
                <a:sym typeface="Asap Semi-Bold"/>
              </a:rPr>
              <a:t>CẢM ƠN THẦY VÀ CÁC BẠN ĐÃ LẮNG NGHE</a:t>
            </a:r>
            <a:endParaRPr lang="en-US" sz="7925" b="1" dirty="0">
              <a:solidFill>
                <a:srgbClr val="1836B2"/>
              </a:solidFill>
              <a:latin typeface="Asap Semi-Bold"/>
              <a:ea typeface="Asap Semi-Bold"/>
              <a:cs typeface="Asap Semi-Bold"/>
              <a:sym typeface="Asap Semi-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1103</Words>
  <Application>Microsoft Office PowerPoint</Application>
  <PresentationFormat>Custom</PresentationFormat>
  <Paragraphs>91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Asap Medium</vt:lpstr>
      <vt:lpstr>Asap Bold</vt:lpstr>
      <vt:lpstr>Calibri</vt:lpstr>
      <vt:lpstr>Asap Semi-Bold</vt:lpstr>
      <vt:lpstr>Asap</vt:lpstr>
      <vt:lpstr>Asap Italics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Bài thuyết trình Lên ý tưởng Kế hoạch Dự án Công ty Xanh dương và Tím Doanh nghiệp Thông thường </dc:title>
  <cp:lastModifiedBy>Ta Duc Duong</cp:lastModifiedBy>
  <cp:revision>5</cp:revision>
  <dcterms:created xsi:type="dcterms:W3CDTF">2006-08-16T00:00:00Z</dcterms:created>
  <dcterms:modified xsi:type="dcterms:W3CDTF">2026-09-12T01:14:18Z</dcterms:modified>
  <dc:identifier>DAHUOyztGI0</dc:identifier>
</cp:coreProperties>
</file>